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31"/>
  </p:notesMasterIdLst>
  <p:handoutMasterIdLst>
    <p:handoutMasterId r:id="rId32"/>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81" r:id="rId17"/>
    <p:sldId id="271" r:id="rId18"/>
    <p:sldId id="272" r:id="rId19"/>
    <p:sldId id="273" r:id="rId20"/>
    <p:sldId id="274" r:id="rId21"/>
    <p:sldId id="275" r:id="rId22"/>
    <p:sldId id="276" r:id="rId23"/>
    <p:sldId id="277" r:id="rId24"/>
    <p:sldId id="278" r:id="rId25"/>
    <p:sldId id="279" r:id="rId26"/>
    <p:sldId id="282" r:id="rId27"/>
    <p:sldId id="283" r:id="rId28"/>
    <p:sldId id="284" r:id="rId29"/>
    <p:sldId id="285" r:id="rId3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666699"/>
    <a:srgbClr val="080C5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78" d="100"/>
          <a:sy n="78" d="100"/>
        </p:scale>
        <p:origin x="878"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8892527-F7FD-0BCA-1137-57127BE2272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135A39E4-AF5E-1CBB-9964-AE83C415C68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DC89A1A-0A9D-4DB9-B436-864AC6BE2F7D}" type="datetime1">
              <a:rPr lang="vi-VN" smtClean="0"/>
              <a:t>13/01/2026</a:t>
            </a:fld>
            <a:endParaRPr lang="en-US"/>
          </a:p>
        </p:txBody>
      </p:sp>
      <p:sp>
        <p:nvSpPr>
          <p:cNvPr id="4" name="Footer Placeholder 3">
            <a:extLst>
              <a:ext uri="{FF2B5EF4-FFF2-40B4-BE49-F238E27FC236}">
                <a16:creationId xmlns:a16="http://schemas.microsoft.com/office/drawing/2014/main" id="{E2AD17E3-3512-6121-19EA-A1B66C1C2985}"/>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1D878FCC-BB63-FF7A-DB86-DEFC7A4147F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A049ADF-C462-4451-9A76-AB9B0CF16049}" type="slidenum">
              <a:rPr lang="en-US" smtClean="0"/>
              <a:t>‹#›</a:t>
            </a:fld>
            <a:endParaRPr lang="en-US"/>
          </a:p>
        </p:txBody>
      </p:sp>
    </p:spTree>
    <p:extLst>
      <p:ext uri="{BB962C8B-B14F-4D97-AF65-F5344CB8AC3E}">
        <p14:creationId xmlns:p14="http://schemas.microsoft.com/office/powerpoint/2010/main" val="3718597978"/>
      </p:ext>
    </p:extLst>
  </p:cSld>
  <p:clrMap bg1="lt1" tx1="dk1" bg2="lt2" tx2="dk2" accent1="accent1" accent2="accent2" accent3="accent3" accent4="accent4" accent5="accent5" accent6="accent6" hlink="hlink" folHlink="folHlink"/>
  <p:hf hdr="0" ftr="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25A1469-E0F4-432A-9344-ADA138032A60}" type="datetime1">
              <a:rPr lang="vi-VN" smtClean="0"/>
              <a:t>13/01/2026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D0F91F3-B0E1-4A7F-A8AC-7B6326F5B750}" type="slidenum">
              <a:rPr lang="en-US" smtClean="0"/>
              <a:t>‹#›</a:t>
            </a:fld>
            <a:endParaRPr lang="en-US"/>
          </a:p>
        </p:txBody>
      </p:sp>
    </p:spTree>
    <p:extLst>
      <p:ext uri="{BB962C8B-B14F-4D97-AF65-F5344CB8AC3E}">
        <p14:creationId xmlns:p14="http://schemas.microsoft.com/office/powerpoint/2010/main" val="2886201295"/>
      </p:ext>
    </p:extLst>
  </p:cSld>
  <p:clrMap bg1="lt1" tx1="dk1" bg2="lt2" tx2="dk2" accent1="accent1" accent2="accent2" accent3="accent3" accent4="accent4" accent5="accent5" accent6="accent6" hlink="hlink" folHlink="folHlink"/>
  <p:hf hdr="0" ftr="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16934" y="0"/>
            <a:ext cx="12231160" cy="6856214"/>
            <a:chOff x="-16934" y="0"/>
            <a:chExt cx="12231160" cy="6856214"/>
          </a:xfrm>
        </p:grpSpPr>
        <p:pic>
          <p:nvPicPr>
            <p:cNvPr id="16" name="Picture 15" descr="HD-PanelTitleR1.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6" name="Rectangle 25"/>
            <p:cNvSpPr/>
            <p:nvPr/>
          </p:nvSpPr>
          <p:spPr>
            <a:xfrm>
              <a:off x="2328332" y="1540931"/>
              <a:ext cx="7543802" cy="3835401"/>
            </a:xfrm>
            <a:prstGeom prst="rect">
              <a:avLst/>
            </a:prstGeom>
            <a:noFill/>
            <a:ln w="15875">
              <a:miter lim="800000"/>
            </a:ln>
          </p:spPr>
          <p:style>
            <a:lnRef idx="1">
              <a:schemeClr val="accent1"/>
            </a:lnRef>
            <a:fillRef idx="3">
              <a:schemeClr val="accent1"/>
            </a:fillRef>
            <a:effectRef idx="2">
              <a:schemeClr val="accent1"/>
            </a:effectRef>
            <a:fontRef idx="minor">
              <a:schemeClr val="lt1"/>
            </a:fontRef>
          </p:style>
        </p:sp>
        <p:pic>
          <p:nvPicPr>
            <p:cNvPr id="17" name="Picture 16" descr="HDRibbonTitle-UniformTrim.png"/>
            <p:cNvPicPr>
              <a:picLocks noChangeAspect="1"/>
            </p:cNvPicPr>
            <p:nvPr/>
          </p:nvPicPr>
          <p:blipFill rotWithShape="1">
            <a:blip r:embed="rId3">
              <a:extLst>
                <a:ext uri="{28A0092B-C50C-407E-A947-70E740481C1C}">
                  <a14:useLocalDpi xmlns:a14="http://schemas.microsoft.com/office/drawing/2010/main" val="0"/>
                </a:ext>
              </a:extLst>
            </a:blip>
            <a:srcRect/>
            <a:stretch/>
          </p:blipFill>
          <p:spPr>
            <a:xfrm>
              <a:off x="-16934" y="3147609"/>
              <a:ext cx="2478024" cy="612648"/>
            </a:xfrm>
            <a:prstGeom prst="rect">
              <a:avLst/>
            </a:prstGeom>
          </p:spPr>
        </p:pic>
        <p:pic>
          <p:nvPicPr>
            <p:cNvPr id="20" name="Picture 19" descr="HDRibbonTitle-UniformTrim.png"/>
            <p:cNvPicPr>
              <a:picLocks noChangeAspect="1"/>
            </p:cNvPicPr>
            <p:nvPr/>
          </p:nvPicPr>
          <p:blipFill rotWithShape="1">
            <a:blip r:embed="rId3">
              <a:extLst>
                <a:ext uri="{28A0092B-C50C-407E-A947-70E740481C1C}">
                  <a14:useLocalDpi xmlns:a14="http://schemas.microsoft.com/office/drawing/2010/main" val="0"/>
                </a:ext>
              </a:extLst>
            </a:blip>
            <a:srcRect/>
            <a:stretch/>
          </p:blipFill>
          <p:spPr>
            <a:xfrm>
              <a:off x="9736202" y="3147609"/>
              <a:ext cx="2478024" cy="612648"/>
            </a:xfrm>
            <a:prstGeom prst="rect">
              <a:avLst/>
            </a:prstGeom>
          </p:spPr>
        </p:pic>
      </p:grpSp>
      <p:sp>
        <p:nvSpPr>
          <p:cNvPr id="2" name="Title 1"/>
          <p:cNvSpPr>
            <a:spLocks noGrp="1"/>
          </p:cNvSpPr>
          <p:nvPr>
            <p:ph type="ctrTitle"/>
          </p:nvPr>
        </p:nvSpPr>
        <p:spPr>
          <a:xfrm>
            <a:off x="2692398" y="1871131"/>
            <a:ext cx="6815669" cy="1515533"/>
          </a:xfrm>
        </p:spPr>
        <p:txBody>
          <a:bodyPr anchor="b">
            <a:noAutofit/>
          </a:bodyPr>
          <a:lstStyle>
            <a:lvl1pPr algn="ctr">
              <a:defRPr sz="5400">
                <a:effectLst/>
              </a:defRPr>
            </a:lvl1pPr>
          </a:lstStyle>
          <a:p>
            <a:r>
              <a:rPr lang="en-US"/>
              <a:t>Click to edit Master title style</a:t>
            </a:r>
            <a:endParaRPr lang="en-US" dirty="0"/>
          </a:p>
        </p:txBody>
      </p:sp>
      <p:sp>
        <p:nvSpPr>
          <p:cNvPr id="3" name="Subtitle 2"/>
          <p:cNvSpPr>
            <a:spLocks noGrp="1"/>
          </p:cNvSpPr>
          <p:nvPr>
            <p:ph type="subTitle" idx="1"/>
          </p:nvPr>
        </p:nvSpPr>
        <p:spPr>
          <a:xfrm>
            <a:off x="2692398" y="3657597"/>
            <a:ext cx="6815669" cy="1320802"/>
          </a:xfrm>
        </p:spPr>
        <p:txBody>
          <a:bodyPr anchor="t">
            <a:normAutofit/>
          </a:bodyPr>
          <a:lstStyle>
            <a:lvl1pPr marL="0" indent="0" algn="ct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983232" y="5037663"/>
            <a:ext cx="897467" cy="279400"/>
          </a:xfrm>
        </p:spPr>
        <p:txBody>
          <a:bodyPr/>
          <a:lstStyle/>
          <a:p>
            <a:fld id="{EBA06F24-19FF-4D9D-9678-B215142BE2E2}" type="datetime1">
              <a:rPr lang="en-US" smtClean="0"/>
              <a:t>1/13/2026</a:t>
            </a:fld>
            <a:endParaRPr lang="en-US"/>
          </a:p>
        </p:txBody>
      </p:sp>
      <p:sp>
        <p:nvSpPr>
          <p:cNvPr id="5" name="Footer Placeholder 4"/>
          <p:cNvSpPr>
            <a:spLocks noGrp="1"/>
          </p:cNvSpPr>
          <p:nvPr>
            <p:ph type="ftr" sz="quarter" idx="11"/>
          </p:nvPr>
        </p:nvSpPr>
        <p:spPr>
          <a:xfrm>
            <a:off x="2692397" y="5037663"/>
            <a:ext cx="5214635" cy="279400"/>
          </a:xfrm>
        </p:spPr>
        <p:txBody>
          <a:bodyPr/>
          <a:lstStyle/>
          <a:p>
            <a:endParaRPr lang="en-US"/>
          </a:p>
        </p:txBody>
      </p:sp>
      <p:sp>
        <p:nvSpPr>
          <p:cNvPr id="6" name="Slide Number Placeholder 5"/>
          <p:cNvSpPr>
            <a:spLocks noGrp="1"/>
          </p:cNvSpPr>
          <p:nvPr>
            <p:ph type="sldNum" sz="quarter" idx="12"/>
          </p:nvPr>
        </p:nvSpPr>
        <p:spPr>
          <a:xfrm>
            <a:off x="8956900" y="5037663"/>
            <a:ext cx="551167" cy="279400"/>
          </a:xfrm>
        </p:spPr>
        <p:txBody>
          <a:bodyPr/>
          <a:lstStyle/>
          <a:p>
            <a:fld id="{D57F1E4F-1CFF-5643-939E-217C01CDF565}" type="slidenum">
              <a:rPr lang="en-US"/>
              <a:pPr/>
              <a:t>‹#›</a:t>
            </a:fld>
            <a:endParaRPr lang="en-US"/>
          </a:p>
        </p:txBody>
      </p:sp>
      <p:cxnSp>
        <p:nvCxnSpPr>
          <p:cNvPr id="15" name="Straight Connector 14"/>
          <p:cNvCxnSpPr/>
          <p:nvPr/>
        </p:nvCxnSpPr>
        <p:spPr>
          <a:xfrm>
            <a:off x="2692399" y="3522131"/>
            <a:ext cx="6815668" cy="0"/>
          </a:xfrm>
          <a:prstGeom prst="line">
            <a:avLst/>
          </a:prstGeom>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cxnSp>
        <p:nvCxnSpPr>
          <p:cNvPr id="7" name="Straight Connector 6"/>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90B8BD8-5673-467A-B323-BECBB8B90C4B}" type="datetime1">
              <a:rPr lang="en-US" smtClean="0"/>
              <a:t>1/13/2026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7799C9-84D9-46D2-A11E-BCF8A720529D}" type="slidenum">
              <a:rPr lang="en-US"/>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015069" y="1752606"/>
            <a:ext cx="8158688" cy="1822514"/>
          </a:xfrm>
        </p:spPr>
        <p:txBody>
          <a:bodyPr anchor="b">
            <a:normAutofit/>
          </a:bodyPr>
          <a:lstStyle>
            <a:lvl1pPr algn="ctr">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2015067" y="3846051"/>
            <a:ext cx="8158690" cy="954547"/>
          </a:xfrm>
        </p:spPr>
        <p:txBody>
          <a:bodyPr anchor="t">
            <a:normAutofit/>
          </a:bodyPr>
          <a:lstStyle>
            <a:lvl1pPr marL="0" indent="0" algn="ctr">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E6DF2EB-F590-4D1E-AEEA-9E9A4ACF88A7}" type="datetime1">
              <a:rPr lang="en-US" smtClean="0"/>
              <a:t>1/13/2026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a:pPr/>
              <a:t>‹#›</a:t>
            </a:fld>
            <a:endParaRPr lang="en-US"/>
          </a:p>
        </p:txBody>
      </p:sp>
      <p:cxnSp>
        <p:nvCxnSpPr>
          <p:cNvPr id="16" name="Straight Connector 15"/>
          <p:cNvCxnSpPr/>
          <p:nvPr/>
        </p:nvCxnSpPr>
        <p:spPr>
          <a:xfrm>
            <a:off x="2012723" y="3710585"/>
            <a:ext cx="8163380"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cxnSp>
        <p:nvCxnSpPr>
          <p:cNvPr id="8" name="Straight Connector 7"/>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98448" y="2560320"/>
            <a:ext cx="4718304" cy="3310128"/>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1344" y="2560320"/>
            <a:ext cx="4718304" cy="3310128"/>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0EF1C3E-611E-44AE-B26F-94952EA8324D}" type="datetime1">
              <a:rPr lang="en-US" smtClean="0"/>
              <a:t>1/13/2026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D84065D-F351-4B03-BD91-D8A6B8D4B362}" type="slidenum">
              <a:rPr lang="en-US"/>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295400" y="2658533"/>
            <a:ext cx="4718304" cy="576262"/>
          </a:xfrm>
        </p:spPr>
        <p:txBody>
          <a:bodyPr anchor="b">
            <a:noAutofit/>
          </a:bodyPr>
          <a:lstStyle>
            <a:lvl1pPr marL="0" indent="0">
              <a:spcBef>
                <a:spcPts val="672"/>
              </a:spcBef>
              <a:spcAft>
                <a:spcPts val="600"/>
              </a:spcAft>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95400" y="3243262"/>
            <a:ext cx="4718304" cy="26326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80670" y="2658533"/>
            <a:ext cx="4718304" cy="576262"/>
          </a:xfrm>
        </p:spPr>
        <p:txBody>
          <a:bodyPr anchor="b">
            <a:noAutofit/>
          </a:bodyPr>
          <a:lstStyle>
            <a:lvl1pPr marL="0" indent="0">
              <a:spcBef>
                <a:spcPts val="672"/>
              </a:spcBef>
              <a:spcAft>
                <a:spcPts val="600"/>
              </a:spcAft>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80670" y="3243262"/>
            <a:ext cx="4718304" cy="26326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A2694BB5-0F6B-47DC-99AA-68D8A5C2D8BB}" type="datetime1">
              <a:rPr lang="en-US" smtClean="0"/>
              <a:t>1/13/2026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57F1E4F-1CFF-5643-939E-217C01CDF565}" type="slidenum">
              <a:rPr lang="en-US"/>
              <a:pPr/>
              <a:t>‹#›</a:t>
            </a:fld>
            <a:endParaRPr lang="en-US"/>
          </a:p>
        </p:txBody>
      </p:sp>
      <p:cxnSp>
        <p:nvCxnSpPr>
          <p:cNvPr id="18" name="Straight Connector 17"/>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63F76D51-BFB9-4B8C-8844-4A0F4BB486B9}" type="datetime1">
              <a:rPr lang="en-US" smtClean="0"/>
              <a:t>1/13/2026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57F1E4F-1CFF-5643-939E-217C01CDF565}" type="slidenum">
              <a:rPr lang="en-US"/>
              <a:pPr/>
              <a:t>‹#›</a:t>
            </a:fld>
            <a:endParaRPr lang="en-US"/>
          </a:p>
        </p:txBody>
      </p:sp>
      <p:cxnSp>
        <p:nvCxnSpPr>
          <p:cNvPr id="14" name="Straight Connector 13"/>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426CE10-DC27-43FA-9CDE-3539A0993451}" type="datetime1">
              <a:rPr lang="en-US" smtClean="0"/>
              <a:t>1/13/2026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57F1E4F-1CFF-5643-939E-217C01CDF56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3811" y="1388534"/>
            <a:ext cx="3718455" cy="1371600"/>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5418668" y="982131"/>
            <a:ext cx="5469466" cy="4893735"/>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293811" y="3031065"/>
            <a:ext cx="3718455" cy="243840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CE3F0F9-338C-4F75-8FAF-6D4441BBE965}" type="datetime1">
              <a:rPr lang="en-US" smtClean="0"/>
              <a:t>1/13/2026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7F1E4F-1CFF-5643-939E-217C01CDF565}" type="slidenum">
              <a:rPr lang="en-US"/>
              <a:pPr/>
              <a:t>‹#›</a:t>
            </a:fld>
            <a:endParaRPr lang="en-US"/>
          </a:p>
        </p:txBody>
      </p:sp>
      <p:cxnSp>
        <p:nvCxnSpPr>
          <p:cNvPr id="16" name="Straight Connector 15"/>
          <p:cNvCxnSpPr/>
          <p:nvPr/>
        </p:nvCxnSpPr>
        <p:spPr>
          <a:xfrm>
            <a:off x="1396169" y="2912533"/>
            <a:ext cx="35144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5399" y="1883832"/>
            <a:ext cx="6241816" cy="1371600"/>
          </a:xfrm>
        </p:spPr>
        <p:txBody>
          <a:bodyPr anchor="b">
            <a:normAutofit/>
          </a:bodyPr>
          <a:lstStyle>
            <a:lvl1pPr algn="ctr">
              <a:defRPr sz="2800" b="0"/>
            </a:lvl1pPr>
          </a:lstStyle>
          <a:p>
            <a:r>
              <a:rPr lang="en-US"/>
              <a:t>Click to edit Master title style</a:t>
            </a:r>
            <a:endParaRPr lang="en-US" dirty="0"/>
          </a:p>
        </p:txBody>
      </p:sp>
      <p:sp>
        <p:nvSpPr>
          <p:cNvPr id="17" name="Picture Placeholder 2"/>
          <p:cNvSpPr>
            <a:spLocks noGrp="1" noChangeAspect="1"/>
          </p:cNvSpPr>
          <p:nvPr>
            <p:ph type="pic" idx="1"/>
          </p:nvPr>
        </p:nvSpPr>
        <p:spPr>
          <a:xfrm>
            <a:off x="8094831" y="1041400"/>
            <a:ext cx="3063347" cy="4775200"/>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1295399" y="3255432"/>
            <a:ext cx="6241816" cy="1828800"/>
          </a:xfrm>
        </p:spPr>
        <p:txBody>
          <a:bodyPr anchor="t">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7283AFE-3120-4ACC-B5D0-58B120E1245C}" type="datetime1">
              <a:rPr lang="en-US" smtClean="0"/>
              <a:t>1/13/2026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7F1E4F-1CFF-5643-939E-217C01CDF56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5401" y="4815415"/>
            <a:ext cx="9609666" cy="566738"/>
          </a:xfrm>
        </p:spPr>
        <p:txBody>
          <a:bodyPr anchor="b">
            <a:normAutofit/>
          </a:bodyPr>
          <a:lstStyle>
            <a:lvl1pPr algn="ctr">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041427" y="1041399"/>
            <a:ext cx="10105972" cy="3335869"/>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1295401" y="5382153"/>
            <a:ext cx="9609666"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DE236D4-3DB5-46F0-908F-7E4BCBD50D8D}" type="datetime1">
              <a:rPr lang="en-US" smtClean="0"/>
              <a:t>1/13/2026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7F1E4F-1CFF-5643-939E-217C01CDF565}"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303868" y="982132"/>
            <a:ext cx="9592732" cy="2954868"/>
          </a:xfrm>
        </p:spPr>
        <p:txBody>
          <a:bodyPr anchor="ctr">
            <a:normAutofit/>
          </a:bodyPr>
          <a:lstStyle>
            <a:lvl1pPr algn="ctr">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303868" y="4343399"/>
            <a:ext cx="9592732"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56095E1-46FE-44C2-8265-F66122DF9363}" type="datetime1">
              <a:rPr lang="en-US" smtClean="0"/>
              <a:t>1/13/2026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a:pPr/>
              <a:t>‹#›</a:t>
            </a:fld>
            <a:endParaRPr lang="en-US"/>
          </a:p>
        </p:txBody>
      </p:sp>
      <p:cxnSp>
        <p:nvCxnSpPr>
          <p:cNvPr id="15" name="Straight Connector 14"/>
          <p:cNvCxnSpPr/>
          <p:nvPr/>
        </p:nvCxnSpPr>
        <p:spPr>
          <a:xfrm>
            <a:off x="1396169" y="4140199"/>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370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674812" y="3352800"/>
            <a:ext cx="8839202" cy="584200"/>
          </a:xfrm>
        </p:spPr>
        <p:txBody>
          <a:bodyPr anchor="ctr">
            <a:normAutofit/>
          </a:bodyPr>
          <a:lstStyle>
            <a:lvl1pPr marL="0" indent="0" algn="r">
              <a:buFontTx/>
              <a:buNone/>
              <a:defRPr sz="20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1295401" y="4343399"/>
            <a:ext cx="9609666"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9CAA9D0-DE3E-4B0B-8533-BC101B5CF045}" type="datetime1">
              <a:rPr lang="en-US" smtClean="0"/>
              <a:t>1/13/2026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a:pPr/>
              <a:t>‹#›</a:t>
            </a:fld>
            <a:endParaRPr lang="en-US"/>
          </a:p>
        </p:txBody>
      </p:sp>
      <p:sp>
        <p:nvSpPr>
          <p:cNvPr id="14" name="TextBox 13"/>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a:solidFill>
                  <a:schemeClr val="tx1"/>
                </a:solidFill>
                <a:effectLst/>
              </a:rPr>
              <a:t>“</a:t>
            </a:r>
          </a:p>
        </p:txBody>
      </p:sp>
      <p:sp>
        <p:nvSpPr>
          <p:cNvPr id="15" name="TextBox 14"/>
          <p:cNvSpPr txBox="1"/>
          <p:nvPr/>
        </p:nvSpPr>
        <p:spPr>
          <a:xfrm>
            <a:off x="10600267" y="2827870"/>
            <a:ext cx="609600" cy="584776"/>
          </a:xfrm>
          <a:prstGeom prst="rect">
            <a:avLst/>
          </a:prstGeom>
        </p:spPr>
        <p:txBody>
          <a:bodyPr vert="horz" lIns="91440" tIns="45720" rIns="91440" bIns="45720" rtlCol="0" anchor="ctr">
            <a:noAutofit/>
          </a:bodyPr>
          <a:lstStyle/>
          <a:p>
            <a:pPr lvl="0" algn="r"/>
            <a:r>
              <a:rPr lang="en-US" sz="8000">
                <a:solidFill>
                  <a:schemeClr val="tx1"/>
                </a:solidFill>
                <a:effectLst/>
              </a:rPr>
              <a:t>”</a:t>
            </a:r>
          </a:p>
        </p:txBody>
      </p:sp>
      <p:cxnSp>
        <p:nvCxnSpPr>
          <p:cNvPr id="19" name="Straight Connector 18"/>
          <p:cNvCxnSpPr/>
          <p:nvPr/>
        </p:nvCxnSpPr>
        <p:spPr>
          <a:xfrm>
            <a:off x="1396169" y="4140199"/>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295402" y="3308581"/>
            <a:ext cx="9609668" cy="1468800"/>
          </a:xfrm>
        </p:spPr>
        <p:txBody>
          <a:bodyPr anchor="b">
            <a:normAutofit/>
          </a:bodyPr>
          <a:lstStyle>
            <a:lvl1pPr algn="l">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4777381"/>
            <a:ext cx="9609668" cy="860400"/>
          </a:xfrm>
        </p:spPr>
        <p:txBody>
          <a:bodyPr anchor="t">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BBCD013-64F4-4AA8-A48C-DCF174779762}" type="datetime1">
              <a:rPr lang="en-US" smtClean="0"/>
              <a:t>1/13/2026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a:pPr/>
              <a:t>‹#›</a:t>
            </a:fld>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243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23" name="Text Placeholder 2"/>
          <p:cNvSpPr>
            <a:spLocks noGrp="1"/>
          </p:cNvSpPr>
          <p:nvPr>
            <p:ph type="body" idx="13"/>
          </p:nvPr>
        </p:nvSpPr>
        <p:spPr>
          <a:xfrm>
            <a:off x="1295401" y="3639312"/>
            <a:ext cx="9609668" cy="886968"/>
          </a:xfrm>
        </p:spPr>
        <p:txBody>
          <a:bodyPr anchor="b">
            <a:normAutofit/>
          </a:bodyPr>
          <a:lstStyle>
            <a:lvl1pPr marL="0" indent="0" algn="l">
              <a:spcBef>
                <a:spcPts val="0"/>
              </a:spcBef>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3" name="Text Placeholder 2"/>
          <p:cNvSpPr>
            <a:spLocks noGrp="1"/>
          </p:cNvSpPr>
          <p:nvPr>
            <p:ph type="body" idx="1"/>
          </p:nvPr>
        </p:nvSpPr>
        <p:spPr>
          <a:xfrm>
            <a:off x="1295401" y="4529667"/>
            <a:ext cx="9609668" cy="13462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5F069E5-DABD-439A-9F1C-BF56B98FE296}" type="datetime1">
              <a:rPr lang="en-US" smtClean="0"/>
              <a:t>1/13/2026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a:pPr/>
              <a:t>‹#›</a:t>
            </a:fld>
            <a:endParaRPr lang="en-US"/>
          </a:p>
        </p:txBody>
      </p:sp>
      <p:sp>
        <p:nvSpPr>
          <p:cNvPr id="12" name="TextBox 11"/>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a:solidFill>
                  <a:schemeClr val="tx1"/>
                </a:solidFill>
                <a:effectLst/>
              </a:rPr>
              <a:t>“</a:t>
            </a:r>
          </a:p>
        </p:txBody>
      </p:sp>
      <p:sp>
        <p:nvSpPr>
          <p:cNvPr id="13" name="TextBox 12"/>
          <p:cNvSpPr txBox="1"/>
          <p:nvPr/>
        </p:nvSpPr>
        <p:spPr>
          <a:xfrm>
            <a:off x="10600267" y="2599261"/>
            <a:ext cx="609600" cy="584776"/>
          </a:xfrm>
          <a:prstGeom prst="rect">
            <a:avLst/>
          </a:prstGeom>
        </p:spPr>
        <p:txBody>
          <a:bodyPr vert="horz" lIns="91440" tIns="45720" rIns="91440" bIns="45720" rtlCol="0" anchor="ctr">
            <a:noAutofit/>
          </a:bodyPr>
          <a:lstStyle/>
          <a:p>
            <a:pPr lvl="0" algn="r"/>
            <a:r>
              <a:rPr lang="en-US" sz="8000">
                <a:solidFill>
                  <a:schemeClr val="tx1"/>
                </a:solidFill>
                <a:effectLst/>
              </a:rPr>
              <a:t>”</a:t>
            </a:r>
          </a:p>
        </p:txBody>
      </p:sp>
      <p:cxnSp>
        <p:nvCxnSpPr>
          <p:cNvPr id="26" name="Straight Connector 25"/>
          <p:cNvCxnSpPr/>
          <p:nvPr/>
        </p:nvCxnSpPr>
        <p:spPr>
          <a:xfrm>
            <a:off x="1396169" y="3429000"/>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295401" y="982132"/>
            <a:ext cx="9609666" cy="2243668"/>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20" name="Text Placeholder 2"/>
          <p:cNvSpPr>
            <a:spLocks noGrp="1"/>
          </p:cNvSpPr>
          <p:nvPr>
            <p:ph type="body" idx="13"/>
          </p:nvPr>
        </p:nvSpPr>
        <p:spPr>
          <a:xfrm>
            <a:off x="1295401" y="3630168"/>
            <a:ext cx="9609668" cy="841248"/>
          </a:xfrm>
        </p:spPr>
        <p:txBody>
          <a:bodyPr anchor="b">
            <a:normAutofit/>
          </a:bodyPr>
          <a:lstStyle>
            <a:lvl1pPr marL="0" indent="0" algn="l">
              <a:spcBef>
                <a:spcPts val="0"/>
              </a:spcBef>
              <a:buNone/>
              <a:defRPr sz="2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3" name="Text Placeholder 2"/>
          <p:cNvSpPr>
            <a:spLocks noGrp="1"/>
          </p:cNvSpPr>
          <p:nvPr>
            <p:ph type="body" idx="1"/>
          </p:nvPr>
        </p:nvSpPr>
        <p:spPr>
          <a:xfrm>
            <a:off x="1295400" y="4470399"/>
            <a:ext cx="9609670" cy="1405467"/>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6C6D62A-041D-4FEA-B418-A5EAD317685C}" type="datetime1">
              <a:rPr lang="en-US" smtClean="0"/>
              <a:t>1/13/2026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a:pPr/>
              <a:t>‹#›</a:t>
            </a:fld>
            <a:endParaRPr lang="en-US"/>
          </a:p>
        </p:txBody>
      </p:sp>
      <p:cxnSp>
        <p:nvCxnSpPr>
          <p:cNvPr id="15" name="Straight Connector 14"/>
          <p:cNvCxnSpPr/>
          <p:nvPr/>
        </p:nvCxnSpPr>
        <p:spPr>
          <a:xfrm>
            <a:off x="1396169" y="3429000"/>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82F1FA1-7372-448A-879E-29B9BEA95777}" type="datetime1">
              <a:rPr lang="en-US" smtClean="0"/>
              <a:t>1/13/2026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a:pPr/>
              <a:t>‹#›</a:t>
            </a:fld>
            <a:endParaRPr lang="en-US"/>
          </a:p>
        </p:txBody>
      </p:sp>
      <p:cxnSp>
        <p:nvCxnSpPr>
          <p:cNvPr id="14" name="Straight Connector 13"/>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99356" y="982131"/>
            <a:ext cx="1890895" cy="4893735"/>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295398" y="982132"/>
            <a:ext cx="7433025" cy="4893734"/>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77CAAFB-199F-49A9-8CA9-0CE773789EED}" type="datetime1">
              <a:rPr lang="en-US" smtClean="0"/>
              <a:t>1/13/2026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a:pPr/>
              <a:t>‹#›</a:t>
            </a:fld>
            <a:endParaRPr lang="en-US"/>
          </a:p>
        </p:txBody>
      </p:sp>
      <p:cxnSp>
        <p:nvCxnSpPr>
          <p:cNvPr id="14" name="Straight Connector 13"/>
          <p:cNvCxnSpPr/>
          <p:nvPr/>
        </p:nvCxnSpPr>
        <p:spPr>
          <a:xfrm>
            <a:off x="8863890" y="990600"/>
            <a:ext cx="0" cy="487680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4.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3.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grpSp>
        <p:nvGrpSpPr>
          <p:cNvPr id="7" name="Group 6"/>
          <p:cNvGrpSpPr/>
          <p:nvPr/>
        </p:nvGrpSpPr>
        <p:grpSpPr>
          <a:xfrm>
            <a:off x="-15736" y="0"/>
            <a:ext cx="12229962" cy="6856214"/>
            <a:chOff x="-15736" y="0"/>
            <a:chExt cx="12229962" cy="6856214"/>
          </a:xfrm>
        </p:grpSpPr>
        <p:pic>
          <p:nvPicPr>
            <p:cNvPr id="8" name="Picture 7" descr="HD-PanelContent.png"/>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9" name="Rectangle 8"/>
            <p:cNvSpPr/>
            <p:nvPr/>
          </p:nvSpPr>
          <p:spPr>
            <a:xfrm>
              <a:off x="608012" y="609600"/>
              <a:ext cx="10972800" cy="5638800"/>
            </a:xfrm>
            <a:prstGeom prst="rect">
              <a:avLst/>
            </a:prstGeom>
            <a:noFill/>
            <a:ln w="15875" cap="flat">
              <a:miter lim="800000"/>
            </a:ln>
          </p:spPr>
          <p:style>
            <a:lnRef idx="1">
              <a:schemeClr val="accent1"/>
            </a:lnRef>
            <a:fillRef idx="3">
              <a:schemeClr val="accent1"/>
            </a:fillRef>
            <a:effectRef idx="2">
              <a:schemeClr val="accent1"/>
            </a:effectRef>
            <a:fontRef idx="minor">
              <a:schemeClr val="lt1"/>
            </a:fontRef>
          </p:style>
        </p:sp>
        <p:pic>
          <p:nvPicPr>
            <p:cNvPr id="10" name="Picture 9" descr="HDRibbonContent-UniformTrim.png"/>
            <p:cNvPicPr>
              <a:picLocks noChangeAspect="1"/>
            </p:cNvPicPr>
            <p:nvPr/>
          </p:nvPicPr>
          <p:blipFill rotWithShape="1">
            <a:blip r:embed="rId20">
              <a:extLst>
                <a:ext uri="{28A0092B-C50C-407E-A947-70E740481C1C}">
                  <a14:useLocalDpi xmlns:a14="http://schemas.microsoft.com/office/drawing/2010/main" val="0"/>
                </a:ext>
              </a:extLst>
            </a:blip>
            <a:srcRect/>
            <a:stretch/>
          </p:blipFill>
          <p:spPr>
            <a:xfrm>
              <a:off x="-15736" y="3153832"/>
              <a:ext cx="777240" cy="606425"/>
            </a:xfrm>
            <a:prstGeom prst="rect">
              <a:avLst/>
            </a:prstGeom>
          </p:spPr>
        </p:pic>
        <p:pic>
          <p:nvPicPr>
            <p:cNvPr id="11" name="Picture 10" descr="HDRibbonContent-UniformTrim.png"/>
            <p:cNvPicPr>
              <a:picLocks noChangeAspect="1"/>
            </p:cNvPicPr>
            <p:nvPr/>
          </p:nvPicPr>
          <p:blipFill rotWithShape="1">
            <a:blip r:embed="rId20">
              <a:extLst>
                <a:ext uri="{28A0092B-C50C-407E-A947-70E740481C1C}">
                  <a14:useLocalDpi xmlns:a14="http://schemas.microsoft.com/office/drawing/2010/main" val="0"/>
                </a:ext>
              </a:extLst>
            </a:blip>
            <a:srcRect/>
            <a:stretch/>
          </p:blipFill>
          <p:spPr>
            <a:xfrm>
              <a:off x="11436986" y="3153832"/>
              <a:ext cx="777240" cy="606425"/>
            </a:xfrm>
            <a:prstGeom prst="rect">
              <a:avLst/>
            </a:prstGeom>
          </p:spPr>
        </p:pic>
      </p:grpSp>
      <p:sp>
        <p:nvSpPr>
          <p:cNvPr id="2" name="Title Placeholder 1"/>
          <p:cNvSpPr>
            <a:spLocks noGrp="1"/>
          </p:cNvSpPr>
          <p:nvPr>
            <p:ph type="title"/>
          </p:nvPr>
        </p:nvSpPr>
        <p:spPr>
          <a:xfrm>
            <a:off x="1295402" y="982132"/>
            <a:ext cx="9601196" cy="1303867"/>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295401" y="2556932"/>
            <a:ext cx="9601196" cy="3318936"/>
          </a:xfrm>
          <a:prstGeom prst="rect">
            <a:avLst/>
          </a:prstGeom>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677501" y="5969000"/>
            <a:ext cx="1600200"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5CB737A8-911B-4F81-96C6-00C8EF96AEF2}" type="datetime1">
              <a:rPr lang="en-US" smtClean="0"/>
              <a:t>1/13/2026</a:t>
            </a:fld>
            <a:endParaRPr lang="en-US"/>
          </a:p>
        </p:txBody>
      </p:sp>
      <p:sp>
        <p:nvSpPr>
          <p:cNvPr id="5" name="Footer Placeholder 4"/>
          <p:cNvSpPr>
            <a:spLocks noGrp="1"/>
          </p:cNvSpPr>
          <p:nvPr>
            <p:ph type="ftr" sz="quarter" idx="3"/>
          </p:nvPr>
        </p:nvSpPr>
        <p:spPr>
          <a:xfrm>
            <a:off x="1295401" y="5969000"/>
            <a:ext cx="7305900" cy="279400"/>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a:p>
        </p:txBody>
      </p:sp>
      <p:sp>
        <p:nvSpPr>
          <p:cNvPr id="6" name="Slide Number Placeholder 5"/>
          <p:cNvSpPr>
            <a:spLocks noGrp="1"/>
          </p:cNvSpPr>
          <p:nvPr>
            <p:ph type="sldNum" sz="quarter" idx="4"/>
          </p:nvPr>
        </p:nvSpPr>
        <p:spPr>
          <a:xfrm>
            <a:off x="10353901" y="5969000"/>
            <a:ext cx="542697"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D57F1E4F-1CFF-5643-939E-217C01CDF565}"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68" r:id="rId2"/>
    <p:sldLayoutId id="2147483651" r:id="rId3"/>
    <p:sldLayoutId id="2147483669" r:id="rId4"/>
    <p:sldLayoutId id="2147483653" r:id="rId5"/>
    <p:sldLayoutId id="2147483654" r:id="rId6"/>
    <p:sldLayoutId id="2147483655" r:id="rId7"/>
    <p:sldLayoutId id="2147483656" r:id="rId8"/>
    <p:sldLayoutId id="2147483660" r:id="rId9"/>
    <p:sldLayoutId id="2147483657" r:id="rId10"/>
    <p:sldLayoutId id="2147483663" r:id="rId11"/>
    <p:sldLayoutId id="2147483664" r:id="rId12"/>
    <p:sldLayoutId id="2147483665" r:id="rId13"/>
    <p:sldLayoutId id="2147483666" r:id="rId14"/>
    <p:sldLayoutId id="2147483667" r:id="rId15"/>
    <p:sldLayoutId id="2147483658" r:id="rId16"/>
    <p:sldLayoutId id="2147483659" r:id="rId17"/>
  </p:sldLayoutIdLst>
  <p:hf sldNum="0" hdr="0" ftr="0" dt="0"/>
  <p:txStyles>
    <p:titleStyle>
      <a:lvl1pPr algn="ctr" defTabSz="457200" rtl="0" eaLnBrk="1" latinLnBrk="0" hangingPunct="1">
        <a:spcBef>
          <a:spcPct val="0"/>
        </a:spcBef>
        <a:buNone/>
        <a:defRPr sz="4400" kern="1200" cap="none">
          <a:ln w="3175" cmpd="sng">
            <a:noFill/>
          </a:ln>
          <a:solidFill>
            <a:schemeClr val="tx1">
              <a:lumMod val="85000"/>
              <a:lumOff val="15000"/>
            </a:schemeClr>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15000"/>
        <a:buFont typeface="Arial"/>
        <a:buChar char="•"/>
        <a:defRPr sz="2000" kern="1200" cap="none">
          <a:solidFill>
            <a:schemeClr val="tx1">
              <a:lumMod val="85000"/>
              <a:lumOff val="1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15000"/>
        <a:buFont typeface="Arial"/>
        <a:buChar char="•"/>
        <a:defRPr sz="1800" kern="1200" cap="none">
          <a:solidFill>
            <a:schemeClr val="tx1">
              <a:lumMod val="85000"/>
              <a:lumOff val="1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15000"/>
        <a:buFont typeface="Arial"/>
        <a:buChar char="•"/>
        <a:defRPr sz="1600" kern="1200" cap="none">
          <a:solidFill>
            <a:schemeClr val="tx1">
              <a:lumMod val="85000"/>
              <a:lumOff val="1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FBDCFF-2745-2B1B-DAF4-D78FA4279551}"/>
              </a:ext>
            </a:extLst>
          </p:cNvPr>
          <p:cNvSpPr>
            <a:spLocks noGrp="1"/>
          </p:cNvSpPr>
          <p:nvPr>
            <p:ph type="ctrTitle"/>
          </p:nvPr>
        </p:nvSpPr>
        <p:spPr>
          <a:xfrm>
            <a:off x="2487561" y="1769806"/>
            <a:ext cx="6956460" cy="1659194"/>
          </a:xfrm>
        </p:spPr>
        <p:txBody>
          <a:bodyPr/>
          <a:lstStyle/>
          <a:p>
            <a:r>
              <a:rPr lang="vi-VN" sz="4400">
                <a:latin typeface="+mn-lt"/>
              </a:rPr>
              <a:t>Bài thuyết trình </a:t>
            </a:r>
            <a:br>
              <a:rPr lang="vi-VN" sz="4400">
                <a:latin typeface="+mn-lt"/>
              </a:rPr>
            </a:br>
            <a:r>
              <a:rPr lang="vi-VN" sz="4400">
                <a:latin typeface="+mn-lt"/>
              </a:rPr>
              <a:t>Cơ Sở Ngành</a:t>
            </a:r>
            <a:endParaRPr lang="en-US" sz="4400">
              <a:latin typeface="+mn-lt"/>
            </a:endParaRPr>
          </a:p>
        </p:txBody>
      </p:sp>
    </p:spTree>
    <p:extLst>
      <p:ext uri="{BB962C8B-B14F-4D97-AF65-F5344CB8AC3E}">
        <p14:creationId xmlns:p14="http://schemas.microsoft.com/office/powerpoint/2010/main" val="18706435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804902-EB3C-C30D-5D85-A76D9A353B24}"/>
              </a:ext>
            </a:extLst>
          </p:cNvPr>
          <p:cNvSpPr>
            <a:spLocks noGrp="1"/>
          </p:cNvSpPr>
          <p:nvPr>
            <p:ph type="title"/>
          </p:nvPr>
        </p:nvSpPr>
        <p:spPr/>
        <p:txBody>
          <a:bodyPr>
            <a:normAutofit fontScale="90000"/>
          </a:bodyPr>
          <a:lstStyle/>
          <a:p>
            <a:pPr algn="l"/>
            <a:r>
              <a:rPr lang="vi-VN" sz="4000">
                <a:latin typeface="+mn-lt"/>
              </a:rPr>
              <a:t>Đề tài: Xây dựng Website giới thiệu các khoá học của </a:t>
            </a:r>
            <a:r>
              <a:rPr lang="vi-VN" sz="4000">
                <a:latin typeface="ti"/>
                <a:cs typeface="Times New Roman" panose="02020603050405020304" pitchFamily="18" charset="0"/>
              </a:rPr>
              <a:t>một Trung tâm Ngoại ngữ - Tin học</a:t>
            </a:r>
            <a:br>
              <a:rPr lang="en-US"/>
            </a:br>
            <a:endParaRPr lang="en-US" sz="4000"/>
          </a:p>
        </p:txBody>
      </p:sp>
      <p:sp>
        <p:nvSpPr>
          <p:cNvPr id="3" name="Content Placeholder 2">
            <a:extLst>
              <a:ext uri="{FF2B5EF4-FFF2-40B4-BE49-F238E27FC236}">
                <a16:creationId xmlns:a16="http://schemas.microsoft.com/office/drawing/2014/main" id="{A589A549-7D0E-BF63-AB5E-9750B4EDD07C}"/>
              </a:ext>
            </a:extLst>
          </p:cNvPr>
          <p:cNvSpPr>
            <a:spLocks noGrp="1"/>
          </p:cNvSpPr>
          <p:nvPr>
            <p:ph idx="1"/>
          </p:nvPr>
        </p:nvSpPr>
        <p:spPr/>
        <p:txBody>
          <a:bodyPr/>
          <a:lstStyle/>
          <a:p>
            <a:pPr marL="0" indent="0" algn="just">
              <a:buNone/>
            </a:pPr>
            <a:r>
              <a:rPr lang="vi-VN" b="1">
                <a:latin typeface="Times New Roman" panose="02020603050405020304" pitchFamily="18" charset="0"/>
                <a:cs typeface="Times New Roman" panose="02020603050405020304" pitchFamily="18" charset="0"/>
              </a:rPr>
              <a:t>Giảng viên hướng dẫn </a:t>
            </a:r>
            <a:r>
              <a:rPr lang="vi-VN">
                <a:latin typeface="Times New Roman" panose="02020603050405020304" pitchFamily="18" charset="0"/>
                <a:cs typeface="Times New Roman" panose="02020603050405020304" pitchFamily="18" charset="0"/>
              </a:rPr>
              <a:t>						</a:t>
            </a:r>
            <a:r>
              <a:rPr lang="vi-VN" b="1">
                <a:latin typeface="Times New Roman" panose="02020603050405020304" pitchFamily="18" charset="0"/>
                <a:cs typeface="Times New Roman" panose="02020603050405020304" pitchFamily="18" charset="0"/>
              </a:rPr>
              <a:t>Sinh viên thực hiện </a:t>
            </a:r>
          </a:p>
          <a:p>
            <a:pPr marL="0" indent="0" algn="just">
              <a:buNone/>
            </a:pPr>
            <a:r>
              <a:rPr lang="vi-VN">
                <a:latin typeface="Times New Roman" panose="02020603050405020304" pitchFamily="18" charset="0"/>
                <a:cs typeface="Times New Roman" panose="02020603050405020304" pitchFamily="18" charset="0"/>
              </a:rPr>
              <a:t>Họ Tên :Võ Thành C							Họ Tên:Huỳnh Ngọc Minh Thư</a:t>
            </a:r>
          </a:p>
          <a:p>
            <a:pPr marL="0" indent="0" algn="just">
              <a:buNone/>
            </a:pPr>
            <a:r>
              <a:rPr lang="vi-VN">
                <a:latin typeface="Times New Roman" panose="02020603050405020304" pitchFamily="18" charset="0"/>
                <a:cs typeface="Times New Roman" panose="02020603050405020304" pitchFamily="18" charset="0"/>
              </a:rPr>
              <a:t>												MSSV:110123184</a:t>
            </a:r>
          </a:p>
          <a:p>
            <a:pPr marL="0" indent="0" algn="just">
              <a:buNone/>
            </a:pPr>
            <a:r>
              <a:rPr lang="vi-VN">
                <a:latin typeface="Times New Roman" panose="02020603050405020304" pitchFamily="18" charset="0"/>
                <a:cs typeface="Times New Roman" panose="02020603050405020304" pitchFamily="18" charset="0"/>
              </a:rPr>
              <a:t>												Lớp: DA23TTD</a:t>
            </a: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8553058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F898AABC-6177-A395-2B4C-028C53F27C87}"/>
              </a:ext>
            </a:extLst>
          </p:cNvPr>
          <p:cNvSpPr txBox="1"/>
          <p:nvPr/>
        </p:nvSpPr>
        <p:spPr>
          <a:xfrm>
            <a:off x="2015613" y="1096134"/>
            <a:ext cx="8475407" cy="4247317"/>
          </a:xfrm>
          <a:prstGeom prst="rect">
            <a:avLst/>
          </a:prstGeom>
          <a:noFill/>
        </p:spPr>
        <p:txBody>
          <a:bodyPr wrap="square" numCol="2" rtlCol="0" anchor="ctr">
            <a:spAutoFit/>
          </a:bodyPr>
          <a:lstStyle/>
          <a:p>
            <a:r>
              <a:rPr lang="vi-VN" sz="2000" b="1" cap="all"/>
              <a:t>Nội dung báo cáo</a:t>
            </a:r>
          </a:p>
          <a:p>
            <a:pPr>
              <a:lnSpc>
                <a:spcPct val="250000"/>
              </a:lnSpc>
            </a:pPr>
            <a:r>
              <a:rPr lang="vi-VN" sz="2000"/>
              <a:t> Chương 1: Tổng quan đề tài</a:t>
            </a:r>
          </a:p>
          <a:p>
            <a:pPr>
              <a:lnSpc>
                <a:spcPct val="250000"/>
              </a:lnSpc>
            </a:pPr>
            <a:r>
              <a:rPr lang="vi-VN" sz="2000"/>
              <a:t> Chương 2: Nghiên cứu lý thuyết</a:t>
            </a:r>
          </a:p>
          <a:p>
            <a:pPr>
              <a:lnSpc>
                <a:spcPct val="250000"/>
              </a:lnSpc>
            </a:pPr>
            <a:r>
              <a:rPr lang="vi-VN" sz="2000"/>
              <a:t> Chương 3: Hiện thực hóa nghiên cứu</a:t>
            </a:r>
          </a:p>
          <a:p>
            <a:pPr>
              <a:lnSpc>
                <a:spcPct val="250000"/>
              </a:lnSpc>
            </a:pPr>
            <a:r>
              <a:rPr lang="vi-VN" sz="2000"/>
              <a:t> Chương 4: Kết quả nghiên cứu</a:t>
            </a:r>
          </a:p>
          <a:p>
            <a:pPr>
              <a:lnSpc>
                <a:spcPct val="250000"/>
              </a:lnSpc>
            </a:pPr>
            <a:r>
              <a:rPr lang="vi-VN" sz="2000"/>
              <a:t> Chương 5: Kết luận &amp; Phát triển</a:t>
            </a:r>
          </a:p>
        </p:txBody>
      </p:sp>
    </p:spTree>
    <p:extLst>
      <p:ext uri="{BB962C8B-B14F-4D97-AF65-F5344CB8AC3E}">
        <p14:creationId xmlns:p14="http://schemas.microsoft.com/office/powerpoint/2010/main" val="19470734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33A2366-342F-7607-7059-4686A73A2F4B}"/>
              </a:ext>
            </a:extLst>
          </p:cNvPr>
          <p:cNvSpPr>
            <a:spLocks noGrp="1"/>
          </p:cNvSpPr>
          <p:nvPr>
            <p:ph type="title"/>
          </p:nvPr>
        </p:nvSpPr>
        <p:spPr/>
        <p:txBody>
          <a:bodyPr>
            <a:normAutofit/>
          </a:bodyPr>
          <a:lstStyle/>
          <a:p>
            <a:r>
              <a:rPr lang="vi-VN" sz="3600" b="1">
                <a:latin typeface="Times New Roman" panose="02020603050405020304" pitchFamily="18" charset="0"/>
                <a:cs typeface="Times New Roman" panose="02020603050405020304" pitchFamily="18" charset="0"/>
              </a:rPr>
              <a:t>CHƯƠNG 1: TỔNG QUAN ĐỀ TÀI</a:t>
            </a:r>
            <a:endParaRPr lang="en-US" sz="3600" b="1">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719991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09A8028E-4C59-0DC7-5309-858B8E78E039}"/>
              </a:ext>
            </a:extLst>
          </p:cNvPr>
          <p:cNvSpPr>
            <a:spLocks noGrp="1"/>
          </p:cNvSpPr>
          <p:nvPr>
            <p:ph type="title"/>
          </p:nvPr>
        </p:nvSpPr>
        <p:spPr>
          <a:xfrm>
            <a:off x="1295402" y="845575"/>
            <a:ext cx="9609668" cy="860400"/>
          </a:xfrm>
        </p:spPr>
        <p:txBody>
          <a:bodyPr/>
          <a:lstStyle/>
          <a:p>
            <a:r>
              <a:rPr lang="vi-VN"/>
              <a:t>GIỚI THIỆU BÀI TOÁN NGIÊN CỨU</a:t>
            </a:r>
            <a:endParaRPr lang="en-US"/>
          </a:p>
        </p:txBody>
      </p:sp>
      <p:sp>
        <p:nvSpPr>
          <p:cNvPr id="12" name="TextBox 11">
            <a:extLst>
              <a:ext uri="{FF2B5EF4-FFF2-40B4-BE49-F238E27FC236}">
                <a16:creationId xmlns:a16="http://schemas.microsoft.com/office/drawing/2014/main" id="{0CF3EDF6-1FCF-6343-2B7F-5D68C06AD51A}"/>
              </a:ext>
            </a:extLst>
          </p:cNvPr>
          <p:cNvSpPr txBox="1"/>
          <p:nvPr/>
        </p:nvSpPr>
        <p:spPr>
          <a:xfrm>
            <a:off x="1295402" y="2123768"/>
            <a:ext cx="9402096" cy="2985433"/>
          </a:xfrm>
          <a:prstGeom prst="rect">
            <a:avLst/>
          </a:prstGeom>
          <a:noFill/>
        </p:spPr>
        <p:txBody>
          <a:bodyPr wrap="square" rtlCol="0">
            <a:spAutoFit/>
          </a:bodyPr>
          <a:lstStyle/>
          <a:p>
            <a:pPr>
              <a:lnSpc>
                <a:spcPct val="150000"/>
              </a:lnSpc>
            </a:pPr>
            <a:r>
              <a:rPr lang="vi-VN" sz="2000" b="1"/>
              <a:t>Vấn đề hiện tại </a:t>
            </a:r>
          </a:p>
          <a:p>
            <a:r>
              <a:rPr lang="vi-VN" sz="2000"/>
              <a:t>	</a:t>
            </a:r>
            <a:r>
              <a:rPr lang="en-US">
                <a:latin typeface="Times New Roman" panose="02020603050405020304" pitchFamily="18" charset="0"/>
                <a:cs typeface="Times New Roman" panose="02020603050405020304" pitchFamily="18" charset="0"/>
              </a:rPr>
              <a:t>Quảng bá và quản lý ghi danh truyền thống (giấy tờ, bảng tính rời rạc) gặp hạn chế về phạm vi tiếp cận và hiệu suất xử lý dữ liệu.</a:t>
            </a:r>
          </a:p>
          <a:p>
            <a:r>
              <a:rPr lang="vi-VN">
                <a:latin typeface="Times New Roman" panose="02020603050405020304" pitchFamily="18" charset="0"/>
                <a:cs typeface="Times New Roman" panose="02020603050405020304" pitchFamily="18" charset="0"/>
              </a:rPr>
              <a:t>	</a:t>
            </a:r>
            <a:r>
              <a:rPr lang="en-US">
                <a:latin typeface="Times New Roman" panose="02020603050405020304" pitchFamily="18" charset="0"/>
                <a:cs typeface="Times New Roman" panose="02020603050405020304" pitchFamily="18" charset="0"/>
              </a:rPr>
              <a:t>Thiếu hụt kênh thông tin trực tuyến 24/7 gây chậm trễ trong việc tiếp cận học viên mới.</a:t>
            </a:r>
          </a:p>
          <a:p>
            <a:endParaRPr lang="vi-VN" b="1">
              <a:latin typeface="Times New Roman" panose="02020603050405020304" pitchFamily="18" charset="0"/>
              <a:cs typeface="Times New Roman" panose="02020603050405020304" pitchFamily="18" charset="0"/>
            </a:endParaRPr>
          </a:p>
          <a:p>
            <a:pPr>
              <a:lnSpc>
                <a:spcPct val="150000"/>
              </a:lnSpc>
            </a:pPr>
            <a:r>
              <a:rPr lang="vi-VN" sz="2000" b="1"/>
              <a:t>Hướng giải quyết </a:t>
            </a:r>
          </a:p>
          <a:p>
            <a:r>
              <a:rPr lang="vi-VN"/>
              <a:t>	</a:t>
            </a:r>
            <a:r>
              <a:rPr lang="vi-VN">
                <a:latin typeface="Times New Roman" panose="02020603050405020304" pitchFamily="18" charset="0"/>
                <a:cs typeface="Times New Roman" panose="02020603050405020304" pitchFamily="18" charset="0"/>
              </a:rPr>
              <a:t>Số hóa kênh quảng bá và tự động hóa quy trình tiếp nhận thông tin thông qua nền tảng website chuyên dụng.</a:t>
            </a:r>
          </a:p>
          <a:p>
            <a:r>
              <a:rPr lang="vi-VN">
                <a:latin typeface="Times New Roman" panose="02020603050405020304" pitchFamily="18" charset="0"/>
                <a:cs typeface="Times New Roman" panose="02020603050405020304" pitchFamily="18" charset="0"/>
              </a:rPr>
              <a:t>	Tích hợp hệ thống quản trị tập trung giúp xử lý đơn đăng ký nhanh chóng và chính xác.</a:t>
            </a:r>
          </a:p>
        </p:txBody>
      </p:sp>
    </p:spTree>
    <p:extLst>
      <p:ext uri="{BB962C8B-B14F-4D97-AF65-F5344CB8AC3E}">
        <p14:creationId xmlns:p14="http://schemas.microsoft.com/office/powerpoint/2010/main" val="4056989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0A6397-F26F-49E0-45F9-D9374F6664C3}"/>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1307451D-05FA-2982-D29B-05CF0750E031}"/>
              </a:ext>
            </a:extLst>
          </p:cNvPr>
          <p:cNvSpPr>
            <a:spLocks noGrp="1"/>
          </p:cNvSpPr>
          <p:nvPr>
            <p:ph type="title"/>
          </p:nvPr>
        </p:nvSpPr>
        <p:spPr>
          <a:xfrm>
            <a:off x="1295402" y="845575"/>
            <a:ext cx="9609668" cy="860400"/>
          </a:xfrm>
        </p:spPr>
        <p:txBody>
          <a:bodyPr/>
          <a:lstStyle/>
          <a:p>
            <a:r>
              <a:rPr lang="vi-VN">
                <a:latin typeface="Times New Roman" panose="02020603050405020304" pitchFamily="18" charset="0"/>
                <a:cs typeface="Times New Roman" panose="02020603050405020304" pitchFamily="18" charset="0"/>
              </a:rPr>
              <a:t>Ý NGHĨA CỦA ĐỀ TÀI </a:t>
            </a: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A9F6901-9924-2473-2AF1-9FE535972327}"/>
              </a:ext>
            </a:extLst>
          </p:cNvPr>
          <p:cNvSpPr txBox="1"/>
          <p:nvPr/>
        </p:nvSpPr>
        <p:spPr>
          <a:xfrm>
            <a:off x="1295402" y="2123768"/>
            <a:ext cx="9609668" cy="2120068"/>
          </a:xfrm>
          <a:prstGeom prst="rect">
            <a:avLst/>
          </a:prstGeom>
          <a:noFill/>
        </p:spPr>
        <p:txBody>
          <a:bodyPr wrap="square" rtlCol="0">
            <a:spAutoFit/>
          </a:bodyPr>
          <a:lstStyle/>
          <a:p>
            <a:pPr>
              <a:lnSpc>
                <a:spcPct val="150000"/>
              </a:lnSpc>
            </a:pPr>
            <a:r>
              <a:rPr lang="en-US" b="1">
                <a:latin typeface="Times New Roman" panose="02020603050405020304" pitchFamily="18" charset="0"/>
                <a:cs typeface="Times New Roman" panose="02020603050405020304" pitchFamily="18" charset="0"/>
              </a:rPr>
              <a:t>Về phía trung tâm:</a:t>
            </a:r>
            <a:r>
              <a:rPr lang="en-US">
                <a:latin typeface="Times New Roman" panose="02020603050405020304" pitchFamily="18" charset="0"/>
                <a:cs typeface="Times New Roman" panose="02020603050405020304" pitchFamily="18" charset="0"/>
              </a:rPr>
              <a:t> Sở hữu công cụ quảng bá hiện đại, chuyên nghiệp hóa quy trình tuyển sinh và theo dõi sát sao nhu cầu học viên.</a:t>
            </a:r>
            <a:endParaRPr lang="vi-VN">
              <a:latin typeface="Times New Roman" panose="02020603050405020304" pitchFamily="18" charset="0"/>
              <a:cs typeface="Times New Roman" panose="02020603050405020304" pitchFamily="18" charset="0"/>
            </a:endParaRPr>
          </a:p>
          <a:p>
            <a:pPr>
              <a:lnSpc>
                <a:spcPct val="150000"/>
              </a:lnSpc>
            </a:pPr>
            <a:endParaRPr lang="vi-VN">
              <a:latin typeface="Times New Roman" panose="02020603050405020304" pitchFamily="18" charset="0"/>
              <a:cs typeface="Times New Roman" panose="02020603050405020304" pitchFamily="18" charset="0"/>
            </a:endParaRPr>
          </a:p>
          <a:p>
            <a:pPr>
              <a:lnSpc>
                <a:spcPct val="150000"/>
              </a:lnSpc>
            </a:pPr>
            <a:r>
              <a:rPr lang="en-US" b="1">
                <a:latin typeface="Times New Roman" panose="02020603050405020304" pitchFamily="18" charset="0"/>
                <a:cs typeface="Times New Roman" panose="02020603050405020304" pitchFamily="18" charset="0"/>
              </a:rPr>
              <a:t>Về phía sinh viên:</a:t>
            </a:r>
            <a:r>
              <a:rPr lang="en-US">
                <a:latin typeface="Times New Roman" panose="02020603050405020304" pitchFamily="18" charset="0"/>
                <a:cs typeface="Times New Roman" panose="02020603050405020304" pitchFamily="18" charset="0"/>
              </a:rPr>
              <a:t> Vận dụng kiến thức HTML5, CSS3, JS, PHP, MySQL vào thực tiễn, rèn luyện kỹ năng phân tích hệ thống và phát triển phần mềm.</a:t>
            </a:r>
          </a:p>
        </p:txBody>
      </p:sp>
    </p:spTree>
    <p:extLst>
      <p:ext uri="{BB962C8B-B14F-4D97-AF65-F5344CB8AC3E}">
        <p14:creationId xmlns:p14="http://schemas.microsoft.com/office/powerpoint/2010/main" val="2778599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3606EF-83AC-6D57-037C-E02090E2D7B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E6D0EFD-9E33-D514-1B5F-D6A7AE363512}"/>
              </a:ext>
            </a:extLst>
          </p:cNvPr>
          <p:cNvSpPr>
            <a:spLocks noGrp="1"/>
          </p:cNvSpPr>
          <p:nvPr>
            <p:ph type="title"/>
          </p:nvPr>
        </p:nvSpPr>
        <p:spPr/>
        <p:txBody>
          <a:bodyPr>
            <a:noAutofit/>
          </a:bodyPr>
          <a:lstStyle/>
          <a:p>
            <a:r>
              <a:rPr lang="vi-VN" sz="3600" b="1">
                <a:latin typeface="Times New Roman" panose="02020603050405020304" pitchFamily="18" charset="0"/>
                <a:cs typeface="Times New Roman" panose="02020603050405020304" pitchFamily="18" charset="0"/>
              </a:rPr>
              <a:t>CHƯƠNG 2: NGHIÊN CỨU LÝ THUYẾT</a:t>
            </a:r>
            <a:endParaRPr lang="en-US" sz="3600" b="1">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342636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FB3C35-80C8-8428-35CC-8B7EDF3275FA}"/>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9381447E-EC9F-D27F-2882-33BE7F1C27EF}"/>
              </a:ext>
            </a:extLst>
          </p:cNvPr>
          <p:cNvSpPr>
            <a:spLocks noGrp="1"/>
          </p:cNvSpPr>
          <p:nvPr>
            <p:ph type="title"/>
          </p:nvPr>
        </p:nvSpPr>
        <p:spPr>
          <a:xfrm>
            <a:off x="1295402" y="845575"/>
            <a:ext cx="9609668" cy="860400"/>
          </a:xfrm>
        </p:spPr>
        <p:txBody>
          <a:bodyPr/>
          <a:lstStyle/>
          <a:p>
            <a:r>
              <a:rPr lang="vi-VN">
                <a:latin typeface="Times New Roman" panose="02020603050405020304" pitchFamily="18" charset="0"/>
                <a:cs typeface="Times New Roman" panose="02020603050405020304" pitchFamily="18" charset="0"/>
              </a:rPr>
              <a:t>TỔNG QUAN VỀ NGÔN NGỮ HTML5</a:t>
            </a: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3E750AE2-30D9-847D-E0F3-8B075AC95B24}"/>
              </a:ext>
            </a:extLst>
          </p:cNvPr>
          <p:cNvSpPr txBox="1"/>
          <p:nvPr/>
        </p:nvSpPr>
        <p:spPr>
          <a:xfrm>
            <a:off x="1295402" y="2123768"/>
            <a:ext cx="9609668" cy="2492990"/>
          </a:xfrm>
          <a:prstGeom prst="rect">
            <a:avLst/>
          </a:prstGeom>
          <a:noFill/>
        </p:spPr>
        <p:txBody>
          <a:bodyPr wrap="square" rtlCol="0">
            <a:spAutoFit/>
          </a:bodyPr>
          <a:lstStyle/>
          <a:p>
            <a:pPr>
              <a:lnSpc>
                <a:spcPct val="150000"/>
              </a:lnSpc>
            </a:pPr>
            <a:r>
              <a:rPr lang="en-US" b="1">
                <a:latin typeface="Times New Roman" panose="02020603050405020304" pitchFamily="18" charset="0"/>
                <a:cs typeface="Times New Roman" panose="02020603050405020304" pitchFamily="18" charset="0"/>
              </a:rPr>
              <a:t>HTML (HyperText Markup Language)</a:t>
            </a:r>
            <a:r>
              <a:rPr lang="en-US">
                <a:latin typeface="Times New Roman" panose="02020603050405020304" pitchFamily="18" charset="0"/>
                <a:cs typeface="Times New Roman" panose="02020603050405020304" pitchFamily="18" charset="0"/>
              </a:rPr>
              <a:t> là ngôn ngữ đánh dấu tiêu chuẩn để tạo cấu trúc trang web. Nó định nghĩa cách thức trình bày nội dung qua hệ thống các thẻ (tags).</a:t>
            </a:r>
            <a:endParaRPr lang="vi-VN">
              <a:latin typeface="Times New Roman" panose="02020603050405020304" pitchFamily="18" charset="0"/>
              <a:cs typeface="Times New Roman" panose="02020603050405020304" pitchFamily="18" charset="0"/>
            </a:endParaRPr>
          </a:p>
          <a:p>
            <a:pPr>
              <a:lnSpc>
                <a:spcPct val="150000"/>
              </a:lnSpc>
            </a:pPr>
            <a:endParaRPr lang="vi-VN">
              <a:latin typeface="Times New Roman" panose="02020603050405020304" pitchFamily="18" charset="0"/>
              <a:cs typeface="Times New Roman" panose="02020603050405020304" pitchFamily="18" charset="0"/>
            </a:endParaRPr>
          </a:p>
          <a:p>
            <a:pPr>
              <a:lnSpc>
                <a:spcPct val="150000"/>
              </a:lnSpc>
            </a:pPr>
            <a:r>
              <a:rPr lang="en-US" sz="2000" b="1">
                <a:latin typeface="Times New Roman" panose="02020603050405020304" pitchFamily="18" charset="0"/>
                <a:cs typeface="Times New Roman" panose="02020603050405020304" pitchFamily="18" charset="0"/>
              </a:rPr>
              <a:t>Thẻ HTML sử dụng trong đề tài:</a:t>
            </a:r>
          </a:p>
          <a:p>
            <a:pPr>
              <a:lnSpc>
                <a:spcPct val="150000"/>
              </a:lnSpc>
            </a:pPr>
            <a:r>
              <a:rPr lang="en-US">
                <a:latin typeface="Times New Roman" panose="02020603050405020304" pitchFamily="18" charset="0"/>
                <a:cs typeface="Times New Roman" panose="02020603050405020304" pitchFamily="18" charset="0"/>
              </a:rPr>
              <a:t>&lt;header&gt;, &lt;nav&gt;, &lt;main&gt;, &lt;section&gt;, &lt;footer&gt;, &lt;form&gt;, &lt;input&gt;, &lt;button&gt;.</a:t>
            </a:r>
          </a:p>
          <a:p>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811808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6AD3AE-87AA-58B0-2871-89E22C32EE69}"/>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A728BBF3-684B-9F9A-0604-770C3926AACC}"/>
              </a:ext>
            </a:extLst>
          </p:cNvPr>
          <p:cNvSpPr>
            <a:spLocks noGrp="1"/>
          </p:cNvSpPr>
          <p:nvPr>
            <p:ph type="title"/>
          </p:nvPr>
        </p:nvSpPr>
        <p:spPr>
          <a:xfrm>
            <a:off x="1295402" y="845575"/>
            <a:ext cx="9609668" cy="860400"/>
          </a:xfrm>
        </p:spPr>
        <p:txBody>
          <a:bodyPr/>
          <a:lstStyle/>
          <a:p>
            <a:r>
              <a:rPr lang="vi-VN">
                <a:latin typeface="Times New Roman" panose="02020603050405020304" pitchFamily="18" charset="0"/>
                <a:cs typeface="Times New Roman" panose="02020603050405020304" pitchFamily="18" charset="0"/>
              </a:rPr>
              <a:t>CẤU TRÚC CHUẨN CỦA MỘT TỆP HTML5</a:t>
            </a:r>
            <a:endParaRPr lang="en-US">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1DB018EC-1442-DAFA-33A0-62F68F7CAFB9}"/>
              </a:ext>
            </a:extLst>
          </p:cNvPr>
          <p:cNvSpPr txBox="1"/>
          <p:nvPr/>
        </p:nvSpPr>
        <p:spPr>
          <a:xfrm>
            <a:off x="1393725" y="1843950"/>
            <a:ext cx="8062452" cy="3170099"/>
          </a:xfrm>
          <a:prstGeom prst="rect">
            <a:avLst/>
          </a:prstGeom>
          <a:solidFill>
            <a:schemeClr val="tx1"/>
          </a:solidFill>
        </p:spPr>
        <p:txBody>
          <a:bodyPr wrap="square">
            <a:spAutoFit/>
          </a:bodyPr>
          <a:lstStyle/>
          <a:p>
            <a:r>
              <a:rPr lang="en-US" sz="2000" b="0" i="0">
                <a:solidFill>
                  <a:schemeClr val="bg1"/>
                </a:solidFill>
                <a:effectLst/>
                <a:latin typeface="Times New Roman" panose="02020603050405020304" pitchFamily="18" charset="0"/>
                <a:cs typeface="Times New Roman" panose="02020603050405020304" pitchFamily="18" charset="0"/>
              </a:rPr>
              <a:t>&lt;!DOCTYPE html&gt;</a:t>
            </a:r>
            <a:br>
              <a:rPr lang="en-US" sz="2000">
                <a:solidFill>
                  <a:schemeClr val="bg1"/>
                </a:solidFill>
                <a:latin typeface="Times New Roman" panose="02020603050405020304" pitchFamily="18" charset="0"/>
                <a:cs typeface="Times New Roman" panose="02020603050405020304" pitchFamily="18" charset="0"/>
              </a:rPr>
            </a:br>
            <a:r>
              <a:rPr lang="en-US" sz="2000" b="0" i="0">
                <a:solidFill>
                  <a:schemeClr val="bg1"/>
                </a:solidFill>
                <a:effectLst/>
                <a:latin typeface="Times New Roman" panose="02020603050405020304" pitchFamily="18" charset="0"/>
                <a:cs typeface="Times New Roman" panose="02020603050405020304" pitchFamily="18" charset="0"/>
              </a:rPr>
              <a:t>&lt;html lang="vi"&gt;</a:t>
            </a:r>
            <a:br>
              <a:rPr lang="en-US" sz="2000">
                <a:solidFill>
                  <a:schemeClr val="bg1"/>
                </a:solidFill>
                <a:latin typeface="Times New Roman" panose="02020603050405020304" pitchFamily="18" charset="0"/>
                <a:cs typeface="Times New Roman" panose="02020603050405020304" pitchFamily="18" charset="0"/>
              </a:rPr>
            </a:br>
            <a:r>
              <a:rPr lang="en-US" sz="2000" b="0" i="0">
                <a:solidFill>
                  <a:schemeClr val="bg1"/>
                </a:solidFill>
                <a:effectLst/>
                <a:latin typeface="Times New Roman" panose="02020603050405020304" pitchFamily="18" charset="0"/>
                <a:cs typeface="Times New Roman" panose="02020603050405020304" pitchFamily="18" charset="0"/>
              </a:rPr>
              <a:t>  &lt;head&gt;</a:t>
            </a:r>
            <a:br>
              <a:rPr lang="en-US" sz="2000">
                <a:solidFill>
                  <a:schemeClr val="bg1"/>
                </a:solidFill>
                <a:latin typeface="Times New Roman" panose="02020603050405020304" pitchFamily="18" charset="0"/>
                <a:cs typeface="Times New Roman" panose="02020603050405020304" pitchFamily="18" charset="0"/>
              </a:rPr>
            </a:br>
            <a:r>
              <a:rPr lang="en-US" sz="2000" b="0" i="0">
                <a:solidFill>
                  <a:schemeClr val="bg1"/>
                </a:solidFill>
                <a:effectLst/>
                <a:latin typeface="Times New Roman" panose="02020603050405020304" pitchFamily="18" charset="0"/>
                <a:cs typeface="Times New Roman" panose="02020603050405020304" pitchFamily="18" charset="0"/>
              </a:rPr>
              <a:t>    &lt;meta charset="UTF-8"&gt;</a:t>
            </a:r>
            <a:br>
              <a:rPr lang="en-US" sz="2000">
                <a:solidFill>
                  <a:schemeClr val="bg1"/>
                </a:solidFill>
                <a:latin typeface="Times New Roman" panose="02020603050405020304" pitchFamily="18" charset="0"/>
                <a:cs typeface="Times New Roman" panose="02020603050405020304" pitchFamily="18" charset="0"/>
              </a:rPr>
            </a:br>
            <a:r>
              <a:rPr lang="en-US" sz="2000" b="0" i="0">
                <a:solidFill>
                  <a:schemeClr val="bg1"/>
                </a:solidFill>
                <a:effectLst/>
                <a:latin typeface="Times New Roman" panose="02020603050405020304" pitchFamily="18" charset="0"/>
                <a:cs typeface="Times New Roman" panose="02020603050405020304" pitchFamily="18" charset="0"/>
              </a:rPr>
              <a:t>    &lt;title&gt;Tiêu đề trang&lt;/title&gt;</a:t>
            </a:r>
            <a:br>
              <a:rPr lang="en-US" sz="2000">
                <a:solidFill>
                  <a:schemeClr val="bg1"/>
                </a:solidFill>
                <a:latin typeface="Times New Roman" panose="02020603050405020304" pitchFamily="18" charset="0"/>
                <a:cs typeface="Times New Roman" panose="02020603050405020304" pitchFamily="18" charset="0"/>
              </a:rPr>
            </a:br>
            <a:r>
              <a:rPr lang="en-US" sz="2000" b="0" i="0">
                <a:solidFill>
                  <a:schemeClr val="bg1"/>
                </a:solidFill>
                <a:effectLst/>
                <a:latin typeface="Times New Roman" panose="02020603050405020304" pitchFamily="18" charset="0"/>
                <a:cs typeface="Times New Roman" panose="02020603050405020304" pitchFamily="18" charset="0"/>
              </a:rPr>
              <a:t>  &lt;/head&gt;</a:t>
            </a:r>
            <a:br>
              <a:rPr lang="en-US" sz="2000">
                <a:solidFill>
                  <a:schemeClr val="bg1"/>
                </a:solidFill>
                <a:latin typeface="Times New Roman" panose="02020603050405020304" pitchFamily="18" charset="0"/>
                <a:cs typeface="Times New Roman" panose="02020603050405020304" pitchFamily="18" charset="0"/>
              </a:rPr>
            </a:br>
            <a:r>
              <a:rPr lang="en-US" sz="2000" b="0" i="0">
                <a:solidFill>
                  <a:schemeClr val="bg1"/>
                </a:solidFill>
                <a:effectLst/>
                <a:latin typeface="Times New Roman" panose="02020603050405020304" pitchFamily="18" charset="0"/>
                <a:cs typeface="Times New Roman" panose="02020603050405020304" pitchFamily="18" charset="0"/>
              </a:rPr>
              <a:t>  &lt;body&gt;</a:t>
            </a:r>
            <a:br>
              <a:rPr lang="en-US" sz="2000">
                <a:solidFill>
                  <a:schemeClr val="bg1"/>
                </a:solidFill>
                <a:latin typeface="Times New Roman" panose="02020603050405020304" pitchFamily="18" charset="0"/>
                <a:cs typeface="Times New Roman" panose="02020603050405020304" pitchFamily="18" charset="0"/>
              </a:rPr>
            </a:br>
            <a:r>
              <a:rPr lang="en-US" sz="2000" b="0" i="0">
                <a:solidFill>
                  <a:schemeClr val="bg1"/>
                </a:solidFill>
                <a:effectLst/>
                <a:latin typeface="Times New Roman" panose="02020603050405020304" pitchFamily="18" charset="0"/>
                <a:cs typeface="Times New Roman" panose="02020603050405020304" pitchFamily="18" charset="0"/>
              </a:rPr>
              <a:t>    &lt;!-- Nội dung hiển thị ở đây --&gt;</a:t>
            </a:r>
            <a:br>
              <a:rPr lang="en-US" sz="2000">
                <a:solidFill>
                  <a:schemeClr val="bg1"/>
                </a:solidFill>
                <a:latin typeface="Times New Roman" panose="02020603050405020304" pitchFamily="18" charset="0"/>
                <a:cs typeface="Times New Roman" panose="02020603050405020304" pitchFamily="18" charset="0"/>
              </a:rPr>
            </a:br>
            <a:r>
              <a:rPr lang="en-US" sz="2000" b="0" i="0">
                <a:solidFill>
                  <a:schemeClr val="bg1"/>
                </a:solidFill>
                <a:effectLst/>
                <a:latin typeface="Times New Roman" panose="02020603050405020304" pitchFamily="18" charset="0"/>
                <a:cs typeface="Times New Roman" panose="02020603050405020304" pitchFamily="18" charset="0"/>
              </a:rPr>
              <a:t>  &lt;/body&gt;</a:t>
            </a:r>
            <a:br>
              <a:rPr lang="en-US" sz="2000">
                <a:solidFill>
                  <a:schemeClr val="bg1"/>
                </a:solidFill>
                <a:latin typeface="Times New Roman" panose="02020603050405020304" pitchFamily="18" charset="0"/>
                <a:cs typeface="Times New Roman" panose="02020603050405020304" pitchFamily="18" charset="0"/>
              </a:rPr>
            </a:br>
            <a:r>
              <a:rPr lang="en-US" sz="2000" b="0" i="0">
                <a:solidFill>
                  <a:schemeClr val="bg1"/>
                </a:solidFill>
                <a:effectLst/>
                <a:latin typeface="Times New Roman" panose="02020603050405020304" pitchFamily="18" charset="0"/>
                <a:cs typeface="Times New Roman" panose="02020603050405020304" pitchFamily="18" charset="0"/>
              </a:rPr>
              <a:t>&lt;/html&gt;</a:t>
            </a:r>
            <a:endParaRPr lang="en-US" sz="200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1970381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B5357B-6E4A-4269-B476-C11802951171}"/>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4A93A425-D2A4-A068-F8E6-949B08BD1701}"/>
              </a:ext>
            </a:extLst>
          </p:cNvPr>
          <p:cNvSpPr>
            <a:spLocks noGrp="1"/>
          </p:cNvSpPr>
          <p:nvPr>
            <p:ph type="title"/>
          </p:nvPr>
        </p:nvSpPr>
        <p:spPr>
          <a:xfrm>
            <a:off x="1295402" y="845575"/>
            <a:ext cx="9609668" cy="860400"/>
          </a:xfrm>
        </p:spPr>
        <p:txBody>
          <a:bodyPr/>
          <a:lstStyle/>
          <a:p>
            <a:r>
              <a:rPr lang="vi-VN">
                <a:latin typeface="Times New Roman" panose="02020603050405020304" pitchFamily="18" charset="0"/>
                <a:cs typeface="Times New Roman" panose="02020603050405020304" pitchFamily="18" charset="0"/>
              </a:rPr>
              <a:t>NGÔN NGỮ CSS3 &amp; Bootstrap 5</a:t>
            </a: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550FFFE4-2180-8E25-9C3A-C2CF4B3C7AA5}"/>
              </a:ext>
            </a:extLst>
          </p:cNvPr>
          <p:cNvSpPr txBox="1"/>
          <p:nvPr/>
        </p:nvSpPr>
        <p:spPr>
          <a:xfrm>
            <a:off x="1406013" y="2084440"/>
            <a:ext cx="4689987" cy="2281650"/>
          </a:xfrm>
          <a:prstGeom prst="rect">
            <a:avLst/>
          </a:prstGeom>
          <a:noFill/>
        </p:spPr>
        <p:txBody>
          <a:bodyPr wrap="square">
            <a:spAutoFit/>
          </a:bodyPr>
          <a:lstStyle/>
          <a:p>
            <a:pPr algn="l">
              <a:lnSpc>
                <a:spcPct val="150000"/>
              </a:lnSpc>
              <a:spcAft>
                <a:spcPts val="900"/>
              </a:spcAft>
              <a:buNone/>
            </a:pPr>
            <a:br>
              <a:rPr lang="en-US" b="1" i="0">
                <a:solidFill>
                  <a:srgbClr val="005088"/>
                </a:solidFill>
                <a:effectLst/>
                <a:latin typeface="Times New Roman" panose="02020603050405020304" pitchFamily="18" charset="0"/>
                <a:cs typeface="Times New Roman" panose="02020603050405020304" pitchFamily="18" charset="0"/>
              </a:rPr>
            </a:br>
            <a:r>
              <a:rPr lang="en-US" sz="2000" b="1" i="0">
                <a:solidFill>
                  <a:srgbClr val="005088"/>
                </a:solidFill>
                <a:effectLst/>
                <a:latin typeface="Times New Roman" panose="02020603050405020304" pitchFamily="18" charset="0"/>
                <a:cs typeface="Times New Roman" panose="02020603050405020304" pitchFamily="18" charset="0"/>
              </a:rPr>
              <a:t>Chức năng</a:t>
            </a:r>
          </a:p>
          <a:p>
            <a:pPr algn="l">
              <a:lnSpc>
                <a:spcPct val="150000"/>
              </a:lnSpc>
              <a:buNone/>
            </a:pPr>
            <a:r>
              <a:rPr lang="en-US" b="0" i="0">
                <a:solidFill>
                  <a:srgbClr val="334155"/>
                </a:solidFill>
                <a:effectLst/>
                <a:latin typeface="Times New Roman" panose="02020603050405020304" pitchFamily="18" charset="0"/>
                <a:cs typeface="Times New Roman" panose="02020603050405020304" pitchFamily="18" charset="0"/>
              </a:rPr>
              <a:t>Kiểm soát diện mạo website: màu sắc, phông chữ, khoảng cách. Quản lý bố cục qua Flexbox và Grid.</a:t>
            </a:r>
          </a:p>
        </p:txBody>
      </p:sp>
      <p:sp>
        <p:nvSpPr>
          <p:cNvPr id="5" name="TextBox 4">
            <a:extLst>
              <a:ext uri="{FF2B5EF4-FFF2-40B4-BE49-F238E27FC236}">
                <a16:creationId xmlns:a16="http://schemas.microsoft.com/office/drawing/2014/main" id="{1AF91532-77DC-2960-EF58-E20ACF72C578}"/>
              </a:ext>
            </a:extLst>
          </p:cNvPr>
          <p:cNvSpPr txBox="1"/>
          <p:nvPr/>
        </p:nvSpPr>
        <p:spPr>
          <a:xfrm>
            <a:off x="6354834" y="2084440"/>
            <a:ext cx="4689986" cy="2281650"/>
          </a:xfrm>
          <a:prstGeom prst="rect">
            <a:avLst/>
          </a:prstGeom>
          <a:noFill/>
        </p:spPr>
        <p:txBody>
          <a:bodyPr wrap="square">
            <a:spAutoFit/>
          </a:bodyPr>
          <a:lstStyle/>
          <a:p>
            <a:pPr algn="l">
              <a:lnSpc>
                <a:spcPct val="150000"/>
              </a:lnSpc>
              <a:spcAft>
                <a:spcPts val="900"/>
              </a:spcAft>
              <a:buNone/>
            </a:pPr>
            <a:br>
              <a:rPr lang="vi-VN" b="1" i="0">
                <a:solidFill>
                  <a:srgbClr val="005088"/>
                </a:solidFill>
                <a:effectLst/>
                <a:latin typeface="Merriweather" panose="00000500000000000000" pitchFamily="2" charset="0"/>
              </a:rPr>
            </a:br>
            <a:r>
              <a:rPr lang="vi-VN" sz="2000" b="1" i="0">
                <a:solidFill>
                  <a:srgbClr val="005088"/>
                </a:solidFill>
                <a:effectLst/>
                <a:latin typeface="Times New Roman" panose="02020603050405020304" pitchFamily="18" charset="0"/>
                <a:cs typeface="Times New Roman" panose="02020603050405020304" pitchFamily="18" charset="0"/>
              </a:rPr>
              <a:t>Tính đáp ứng</a:t>
            </a:r>
          </a:p>
          <a:p>
            <a:pPr algn="l">
              <a:lnSpc>
                <a:spcPct val="150000"/>
              </a:lnSpc>
              <a:buNone/>
            </a:pPr>
            <a:r>
              <a:rPr lang="vi-VN" b="0" i="0">
                <a:solidFill>
                  <a:srgbClr val="334155"/>
                </a:solidFill>
                <a:effectLst/>
                <a:latin typeface="Times New Roman" panose="02020603050405020304" pitchFamily="18" charset="0"/>
                <a:cs typeface="Times New Roman" panose="02020603050405020304" pitchFamily="18" charset="0"/>
              </a:rPr>
              <a:t>Phối hợp với Bootstrap 5.3 để tự động thay đổi giao diện linh hoạt theo kích thước màn hình (Desktop/Mobile).</a:t>
            </a:r>
          </a:p>
        </p:txBody>
      </p:sp>
    </p:spTree>
    <p:extLst>
      <p:ext uri="{BB962C8B-B14F-4D97-AF65-F5344CB8AC3E}">
        <p14:creationId xmlns:p14="http://schemas.microsoft.com/office/powerpoint/2010/main" val="278810228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848F5E-B08A-6D68-966E-AC4C609A3A35}"/>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506E8B14-BCB0-6264-DFA8-1309E051C260}"/>
              </a:ext>
            </a:extLst>
          </p:cNvPr>
          <p:cNvSpPr>
            <a:spLocks noGrp="1"/>
          </p:cNvSpPr>
          <p:nvPr>
            <p:ph type="title"/>
          </p:nvPr>
        </p:nvSpPr>
        <p:spPr>
          <a:xfrm>
            <a:off x="1295402" y="845575"/>
            <a:ext cx="9609668" cy="860400"/>
          </a:xfrm>
        </p:spPr>
        <p:txBody>
          <a:bodyPr/>
          <a:lstStyle/>
          <a:p>
            <a:r>
              <a:rPr lang="vi-VN">
                <a:latin typeface="Times New Roman" panose="02020603050405020304" pitchFamily="18" charset="0"/>
                <a:cs typeface="Times New Roman" panose="02020603050405020304" pitchFamily="18" charset="0"/>
              </a:rPr>
              <a:t>JAVASCRIPT:LINH HỒN WEBSITE</a:t>
            </a: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906ED27-4B2F-5742-EEBE-BB6F35DA61C6}"/>
              </a:ext>
            </a:extLst>
          </p:cNvPr>
          <p:cNvSpPr txBox="1"/>
          <p:nvPr/>
        </p:nvSpPr>
        <p:spPr>
          <a:xfrm>
            <a:off x="1371600" y="2034540"/>
            <a:ext cx="7785735" cy="3039550"/>
          </a:xfrm>
          <a:prstGeom prst="rect">
            <a:avLst/>
          </a:prstGeom>
          <a:noFill/>
        </p:spPr>
        <p:txBody>
          <a:bodyPr wrap="square">
            <a:spAutoFit/>
          </a:bodyPr>
          <a:lstStyle/>
          <a:p>
            <a:pPr algn="l">
              <a:spcAft>
                <a:spcPts val="900"/>
              </a:spcAft>
              <a:buNone/>
            </a:pPr>
            <a:r>
              <a:rPr lang="vi-VN" sz="2000" b="1" i="0">
                <a:solidFill>
                  <a:srgbClr val="005088"/>
                </a:solidFill>
                <a:effectLst/>
                <a:latin typeface="Times New Roman" panose="02020603050405020304" pitchFamily="18" charset="0"/>
                <a:cs typeface="Times New Roman" panose="02020603050405020304" pitchFamily="18" charset="0"/>
              </a:rPr>
              <a:t>JavaScript đóng vai trò điều khiển hành vi trang web:</a:t>
            </a:r>
          </a:p>
          <a:p>
            <a:pPr marL="285750" indent="-285750">
              <a:spcAft>
                <a:spcPts val="900"/>
              </a:spcAft>
              <a:buClr>
                <a:schemeClr val="tx1"/>
              </a:buClr>
              <a:buFont typeface="Arial" panose="020B0604020202020204" pitchFamily="34" charset="0"/>
              <a:buChar char="•"/>
            </a:pPr>
            <a:r>
              <a:rPr lang="vi-VN" b="1">
                <a:latin typeface="Times New Roman" panose="02020603050405020304" pitchFamily="18" charset="0"/>
                <a:cs typeface="Times New Roman" panose="02020603050405020304" pitchFamily="18" charset="0"/>
              </a:rPr>
              <a:t>Xử lý tương tác động:</a:t>
            </a:r>
            <a:r>
              <a:rPr lang="vi-VN">
                <a:latin typeface="Times New Roman" panose="02020603050405020304" pitchFamily="18" charset="0"/>
                <a:cs typeface="Times New Roman" panose="02020603050405020304" pitchFamily="18" charset="0"/>
              </a:rPr>
              <a:t> kiểm tra tính hợp lệ của dữ liệu trước khi gửi về Server.</a:t>
            </a:r>
            <a:endParaRPr lang="vi-VN" sz="2000" b="1" i="0">
              <a:solidFill>
                <a:srgbClr val="005088"/>
              </a:solidFill>
              <a:effectLst/>
              <a:latin typeface="Times New Roman" panose="02020603050405020304" pitchFamily="18" charset="0"/>
              <a:cs typeface="Times New Roman" panose="02020603050405020304" pitchFamily="18" charset="0"/>
            </a:endParaRPr>
          </a:p>
          <a:p>
            <a:pPr marL="285750" indent="-285750" algn="l">
              <a:lnSpc>
                <a:spcPct val="200000"/>
              </a:lnSpc>
              <a:buFont typeface="Arial" panose="020B0604020202020204" pitchFamily="34" charset="0"/>
              <a:buChar char="•"/>
            </a:pPr>
            <a:r>
              <a:rPr lang="vi-VN" b="1" i="0">
                <a:solidFill>
                  <a:srgbClr val="334155"/>
                </a:solidFill>
                <a:effectLst/>
                <a:latin typeface="Times New Roman" panose="02020603050405020304" pitchFamily="18" charset="0"/>
                <a:cs typeface="Times New Roman" panose="02020603050405020304" pitchFamily="18" charset="0"/>
              </a:rPr>
              <a:t>Xử lý sự kiện:</a:t>
            </a:r>
            <a:r>
              <a:rPr lang="vi-VN" b="0" i="0">
                <a:solidFill>
                  <a:srgbClr val="334155"/>
                </a:solidFill>
                <a:effectLst/>
                <a:latin typeface="Times New Roman" panose="02020603050405020304" pitchFamily="18" charset="0"/>
                <a:cs typeface="Times New Roman" panose="02020603050405020304" pitchFamily="18" charset="0"/>
              </a:rPr>
              <a:t> Click, hover, scroll.</a:t>
            </a:r>
          </a:p>
          <a:p>
            <a:pPr marL="285750" indent="-285750" algn="l">
              <a:lnSpc>
                <a:spcPct val="200000"/>
              </a:lnSpc>
              <a:buFont typeface="Arial" panose="020B0604020202020204" pitchFamily="34" charset="0"/>
              <a:buChar char="•"/>
            </a:pPr>
            <a:r>
              <a:rPr lang="vi-VN" b="1" i="0">
                <a:solidFill>
                  <a:srgbClr val="334155"/>
                </a:solidFill>
                <a:effectLst/>
                <a:latin typeface="Times New Roman" panose="02020603050405020304" pitchFamily="18" charset="0"/>
                <a:cs typeface="Times New Roman" panose="02020603050405020304" pitchFamily="18" charset="0"/>
              </a:rPr>
              <a:t>Kiểm tra dữ liệu Form:</a:t>
            </a:r>
            <a:r>
              <a:rPr lang="vi-VN" b="0" i="0">
                <a:solidFill>
                  <a:srgbClr val="334155"/>
                </a:solidFill>
                <a:effectLst/>
                <a:latin typeface="Times New Roman" panose="02020603050405020304" pitchFamily="18" charset="0"/>
                <a:cs typeface="Times New Roman" panose="02020603050405020304" pitchFamily="18" charset="0"/>
              </a:rPr>
              <a:t> Validate email, mật khẩu trước khi gửi.</a:t>
            </a:r>
          </a:p>
          <a:p>
            <a:pPr marL="285750" indent="-285750" algn="l">
              <a:lnSpc>
                <a:spcPct val="200000"/>
              </a:lnSpc>
              <a:buFont typeface="Arial" panose="020B0604020202020204" pitchFamily="34" charset="0"/>
              <a:buChar char="•"/>
            </a:pPr>
            <a:r>
              <a:rPr lang="vi-VN" b="1" i="0">
                <a:solidFill>
                  <a:srgbClr val="334155"/>
                </a:solidFill>
                <a:effectLst/>
                <a:latin typeface="Times New Roman" panose="02020603050405020304" pitchFamily="18" charset="0"/>
                <a:cs typeface="Times New Roman" panose="02020603050405020304" pitchFamily="18" charset="0"/>
              </a:rPr>
              <a:t>Thao tác với DOM:</a:t>
            </a:r>
            <a:r>
              <a:rPr lang="vi-VN" b="0" i="0">
                <a:solidFill>
                  <a:srgbClr val="334155"/>
                </a:solidFill>
                <a:effectLst/>
                <a:latin typeface="Times New Roman" panose="02020603050405020304" pitchFamily="18" charset="0"/>
                <a:cs typeface="Times New Roman" panose="02020603050405020304" pitchFamily="18" charset="0"/>
              </a:rPr>
              <a:t> Thay đổi nội dung, màu sắc động mà không tải lại trang.</a:t>
            </a:r>
          </a:p>
          <a:p>
            <a:pPr marL="285750" indent="-285750" algn="l">
              <a:lnSpc>
                <a:spcPct val="200000"/>
              </a:lnSpc>
              <a:buFont typeface="Arial" panose="020B0604020202020204" pitchFamily="34" charset="0"/>
              <a:buChar char="•"/>
            </a:pPr>
            <a:r>
              <a:rPr lang="vi-VN" b="1" i="0">
                <a:solidFill>
                  <a:srgbClr val="334155"/>
                </a:solidFill>
                <a:effectLst/>
                <a:latin typeface="Times New Roman" panose="02020603050405020304" pitchFamily="18" charset="0"/>
                <a:cs typeface="Times New Roman" panose="02020603050405020304" pitchFamily="18" charset="0"/>
              </a:rPr>
              <a:t>Slider:</a:t>
            </a:r>
            <a:r>
              <a:rPr lang="vi-VN" b="0" i="0">
                <a:solidFill>
                  <a:srgbClr val="334155"/>
                </a:solidFill>
                <a:effectLst/>
                <a:latin typeface="Times New Roman" panose="02020603050405020304" pitchFamily="18" charset="0"/>
                <a:cs typeface="Times New Roman" panose="02020603050405020304" pitchFamily="18" charset="0"/>
              </a:rPr>
              <a:t> Tạo hiệu ứng lướt xem ảnh khóa học mượt mà.</a:t>
            </a:r>
          </a:p>
        </p:txBody>
      </p:sp>
    </p:spTree>
    <p:extLst>
      <p:ext uri="{BB962C8B-B14F-4D97-AF65-F5344CB8AC3E}">
        <p14:creationId xmlns:p14="http://schemas.microsoft.com/office/powerpoint/2010/main" val="377699244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AAA774-FEDC-F77E-FE82-C19B312EFF82}"/>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87DB76BA-E94D-E90E-760B-7C7B3543DC2E}"/>
              </a:ext>
            </a:extLst>
          </p:cNvPr>
          <p:cNvSpPr>
            <a:spLocks noGrp="1"/>
          </p:cNvSpPr>
          <p:nvPr>
            <p:ph type="title"/>
          </p:nvPr>
        </p:nvSpPr>
        <p:spPr>
          <a:xfrm>
            <a:off x="1295402" y="845575"/>
            <a:ext cx="9609668" cy="860400"/>
          </a:xfrm>
        </p:spPr>
        <p:txBody>
          <a:bodyPr/>
          <a:lstStyle/>
          <a:p>
            <a:r>
              <a:rPr lang="vi-VN">
                <a:latin typeface="Times New Roman" panose="02020603050405020304" pitchFamily="18" charset="0"/>
                <a:cs typeface="Times New Roman" panose="02020603050405020304" pitchFamily="18" charset="0"/>
              </a:rPr>
              <a:t>XỬ LÝ SERVER &amp; DATABASE</a:t>
            </a: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BAAE2380-87C0-4C98-D4B0-F6154CD87EA0}"/>
              </a:ext>
            </a:extLst>
          </p:cNvPr>
          <p:cNvSpPr txBox="1"/>
          <p:nvPr/>
        </p:nvSpPr>
        <p:spPr>
          <a:xfrm>
            <a:off x="1295403" y="2026921"/>
            <a:ext cx="5288277" cy="2697149"/>
          </a:xfrm>
          <a:prstGeom prst="rect">
            <a:avLst/>
          </a:prstGeom>
          <a:noFill/>
        </p:spPr>
        <p:txBody>
          <a:bodyPr wrap="square">
            <a:spAutoFit/>
          </a:bodyPr>
          <a:lstStyle/>
          <a:p>
            <a:pPr algn="l">
              <a:lnSpc>
                <a:spcPct val="150000"/>
              </a:lnSpc>
              <a:spcAft>
                <a:spcPts val="900"/>
              </a:spcAft>
              <a:buNone/>
            </a:pPr>
            <a:r>
              <a:rPr lang="vi-VN" sz="2000" b="1" i="0">
                <a:solidFill>
                  <a:srgbClr val="005088"/>
                </a:solidFill>
                <a:effectLst/>
                <a:latin typeface="Times New Roman" panose="02020603050405020304" pitchFamily="18" charset="0"/>
                <a:cs typeface="Times New Roman" panose="02020603050405020304" pitchFamily="18" charset="0"/>
              </a:rPr>
              <a:t>Cơ chế hoạt động:</a:t>
            </a:r>
          </a:p>
          <a:p>
            <a:pPr algn="l">
              <a:lnSpc>
                <a:spcPct val="150000"/>
              </a:lnSpc>
              <a:buNone/>
            </a:pPr>
            <a:r>
              <a:rPr lang="vi-VN" b="0" i="0">
                <a:solidFill>
                  <a:srgbClr val="334155"/>
                </a:solidFill>
                <a:effectLst/>
                <a:latin typeface="Times New Roman" panose="02020603050405020304" pitchFamily="18" charset="0"/>
                <a:cs typeface="Times New Roman" panose="02020603050405020304" pitchFamily="18" charset="0"/>
              </a:rPr>
              <a:t>1. Trình duyệt gửi yêu cầu HTTP.</a:t>
            </a:r>
            <a:br>
              <a:rPr lang="vi-VN" b="0" i="0">
                <a:solidFill>
                  <a:srgbClr val="334155"/>
                </a:solidFill>
                <a:effectLst/>
                <a:latin typeface="Times New Roman" panose="02020603050405020304" pitchFamily="18" charset="0"/>
                <a:cs typeface="Times New Roman" panose="02020603050405020304" pitchFamily="18" charset="0"/>
              </a:rPr>
            </a:br>
            <a:r>
              <a:rPr lang="vi-VN" b="0" i="0">
                <a:solidFill>
                  <a:srgbClr val="334155"/>
                </a:solidFill>
                <a:effectLst/>
                <a:latin typeface="Times New Roman" panose="02020603050405020304" pitchFamily="18" charset="0"/>
                <a:cs typeface="Times New Roman" panose="02020603050405020304" pitchFamily="18" charset="0"/>
              </a:rPr>
              <a:t>2. Web Server chuyển tệp cho PHP Engine.</a:t>
            </a:r>
            <a:br>
              <a:rPr lang="vi-VN" b="0" i="0">
                <a:solidFill>
                  <a:srgbClr val="334155"/>
                </a:solidFill>
                <a:effectLst/>
                <a:latin typeface="Times New Roman" panose="02020603050405020304" pitchFamily="18" charset="0"/>
                <a:cs typeface="Times New Roman" panose="02020603050405020304" pitchFamily="18" charset="0"/>
              </a:rPr>
            </a:br>
            <a:r>
              <a:rPr lang="vi-VN" b="0" i="0">
                <a:solidFill>
                  <a:srgbClr val="334155"/>
                </a:solidFill>
                <a:effectLst/>
                <a:latin typeface="Times New Roman" panose="02020603050405020304" pitchFamily="18" charset="0"/>
                <a:cs typeface="Times New Roman" panose="02020603050405020304" pitchFamily="18" charset="0"/>
              </a:rPr>
              <a:t>3. PHP truy vấn MySQL và lấy dữ liệu.</a:t>
            </a:r>
            <a:br>
              <a:rPr lang="vi-VN" b="0" i="0">
                <a:solidFill>
                  <a:srgbClr val="334155"/>
                </a:solidFill>
                <a:effectLst/>
                <a:latin typeface="Times New Roman" panose="02020603050405020304" pitchFamily="18" charset="0"/>
                <a:cs typeface="Times New Roman" panose="02020603050405020304" pitchFamily="18" charset="0"/>
              </a:rPr>
            </a:br>
            <a:r>
              <a:rPr lang="vi-VN" b="0" i="0">
                <a:solidFill>
                  <a:srgbClr val="334155"/>
                </a:solidFill>
                <a:effectLst/>
                <a:latin typeface="Times New Roman" panose="02020603050405020304" pitchFamily="18" charset="0"/>
                <a:cs typeface="Times New Roman" panose="02020603050405020304" pitchFamily="18" charset="0"/>
              </a:rPr>
              <a:t>4. PHP xuất ra kết quả dưới dạng HTML thuần túy trả về trình duyệt.</a:t>
            </a:r>
          </a:p>
        </p:txBody>
      </p:sp>
      <p:pic>
        <p:nvPicPr>
          <p:cNvPr id="7" name="Picture 6" descr="A computer screen with a computer server and a server&#10;&#10;AI-generated content may be incorrect.">
            <a:extLst>
              <a:ext uri="{FF2B5EF4-FFF2-40B4-BE49-F238E27FC236}">
                <a16:creationId xmlns:a16="http://schemas.microsoft.com/office/drawing/2014/main" id="{E76ECFA3-6468-A40B-F7BE-E0D16EE9FC11}"/>
              </a:ext>
              <a:ext uri="{C183D7F6-B498-43B3-948B-1728B52AA6E4}">
                <adec:decorative xmlns:adec="http://schemas.microsoft.com/office/drawing/2017/decorative" val="0"/>
              </a:ext>
            </a:extLst>
          </p:cNvPr>
          <p:cNvPicPr>
            <a:picLocks noChangeAspect="1"/>
          </p:cNvPicPr>
          <p:nvPr/>
        </p:nvPicPr>
        <p:blipFill>
          <a:blip r:embed="rId2"/>
          <a:stretch>
            <a:fillRect/>
          </a:stretch>
        </p:blipFill>
        <p:spPr>
          <a:xfrm>
            <a:off x="6781571" y="1818540"/>
            <a:ext cx="3277057" cy="2905530"/>
          </a:xfrm>
          <a:prstGeom prst="rect">
            <a:avLst/>
          </a:prstGeom>
        </p:spPr>
      </p:pic>
    </p:spTree>
    <p:extLst>
      <p:ext uri="{BB962C8B-B14F-4D97-AF65-F5344CB8AC3E}">
        <p14:creationId xmlns:p14="http://schemas.microsoft.com/office/powerpoint/2010/main" val="14417380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5E8693-BA35-E838-A840-15EFDD47586B}"/>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51C36DBF-1AF3-0465-27E6-A21EE0925BD1}"/>
              </a:ext>
            </a:extLst>
          </p:cNvPr>
          <p:cNvSpPr>
            <a:spLocks noGrp="1"/>
          </p:cNvSpPr>
          <p:nvPr>
            <p:ph type="title"/>
          </p:nvPr>
        </p:nvSpPr>
        <p:spPr>
          <a:xfrm>
            <a:off x="1295402" y="845575"/>
            <a:ext cx="9609668" cy="860400"/>
          </a:xfrm>
        </p:spPr>
        <p:txBody>
          <a:bodyPr/>
          <a:lstStyle/>
          <a:p>
            <a:r>
              <a:rPr lang="vi-VN">
                <a:latin typeface="Times New Roman" panose="02020603050405020304" pitchFamily="18" charset="0"/>
                <a:cs typeface="Times New Roman" panose="02020603050405020304" pitchFamily="18" charset="0"/>
              </a:rPr>
              <a:t>XỬ LÝ SERVER &amp; DATABASE</a:t>
            </a: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DFC3F405-96DD-FF9D-F312-11395424D099}"/>
              </a:ext>
            </a:extLst>
          </p:cNvPr>
          <p:cNvSpPr txBox="1"/>
          <p:nvPr/>
        </p:nvSpPr>
        <p:spPr>
          <a:xfrm>
            <a:off x="1425677" y="2123768"/>
            <a:ext cx="9271820" cy="3416320"/>
          </a:xfrm>
          <a:prstGeom prst="rect">
            <a:avLst/>
          </a:prstGeom>
          <a:noFill/>
        </p:spPr>
        <p:txBody>
          <a:bodyPr wrap="square">
            <a:spAutoFit/>
          </a:bodyPr>
          <a:lstStyle/>
          <a:p>
            <a:pPr>
              <a:lnSpc>
                <a:spcPct val="150000"/>
              </a:lnSpc>
            </a:pPr>
            <a:r>
              <a:rPr lang="vi-VN" b="1">
                <a:latin typeface="Times New Roman" panose="02020603050405020304" pitchFamily="18" charset="0"/>
                <a:cs typeface="Times New Roman" panose="02020603050405020304" pitchFamily="18" charset="0"/>
              </a:rPr>
              <a:t>PHP Language:</a:t>
            </a:r>
            <a:r>
              <a:rPr lang="vi-VN">
                <a:latin typeface="Times New Roman" panose="02020603050405020304" pitchFamily="18" charset="0"/>
                <a:cs typeface="Times New Roman" panose="02020603050405020304" pitchFamily="18" charset="0"/>
              </a:rPr>
              <a:t>Ngôn ngữ chính phía máy chủ. Xử lý logic nghiệp vụ, kết nối cơ sở dữ liệu và quản lý phiên làm việc (Session).</a:t>
            </a:r>
          </a:p>
          <a:p>
            <a:endParaRPr lang="vi-VN">
              <a:latin typeface="Times New Roman" panose="02020603050405020304" pitchFamily="18" charset="0"/>
              <a:cs typeface="Times New Roman" panose="02020603050405020304" pitchFamily="18" charset="0"/>
            </a:endParaRPr>
          </a:p>
          <a:p>
            <a:pPr>
              <a:lnSpc>
                <a:spcPct val="150000"/>
              </a:lnSpc>
            </a:pPr>
            <a:r>
              <a:rPr lang="vi-VN" b="1">
                <a:latin typeface="Times New Roman" panose="02020603050405020304" pitchFamily="18" charset="0"/>
                <a:cs typeface="Times New Roman" panose="02020603050405020304" pitchFamily="18" charset="0"/>
              </a:rPr>
              <a:t>MySQL Database:</a:t>
            </a:r>
            <a:r>
              <a:rPr lang="vi-VN">
                <a:latin typeface="Times New Roman" panose="02020603050405020304" pitchFamily="18" charset="0"/>
                <a:cs typeface="Times New Roman" panose="02020603050405020304" pitchFamily="18" charset="0"/>
              </a:rPr>
              <a:t>Lưu trữ tập trung thông tin học viên, khóa học và đơn đăng ký tư vấn theo mô hình quan hệ chặt chẽ.</a:t>
            </a:r>
          </a:p>
          <a:p>
            <a:endParaRPr lang="vi-VN">
              <a:latin typeface="Times New Roman" panose="02020603050405020304" pitchFamily="18" charset="0"/>
              <a:cs typeface="Times New Roman" panose="02020603050405020304" pitchFamily="18" charset="0"/>
            </a:endParaRPr>
          </a:p>
          <a:p>
            <a:pPr>
              <a:lnSpc>
                <a:spcPct val="150000"/>
              </a:lnSpc>
            </a:pPr>
            <a:r>
              <a:rPr lang="vi-VN" b="1">
                <a:latin typeface="Times New Roman" panose="02020603050405020304" pitchFamily="18" charset="0"/>
                <a:cs typeface="Times New Roman" panose="02020603050405020304" pitchFamily="18" charset="0"/>
              </a:rPr>
              <a:t>Bảo mật: </a:t>
            </a:r>
            <a:r>
              <a:rPr lang="vi-VN">
                <a:latin typeface="Times New Roman" panose="02020603050405020304" pitchFamily="18" charset="0"/>
                <a:cs typeface="Times New Roman" panose="02020603050405020304" pitchFamily="18" charset="0"/>
              </a:rPr>
              <a:t>Mã hóa mật khẩu người dùng và thiết lập quyền truy cập cho Quản trị viên thông qua Session bảo mật.</a:t>
            </a:r>
          </a:p>
          <a:p>
            <a:endParaRPr lang="vi-VN"/>
          </a:p>
        </p:txBody>
      </p:sp>
    </p:spTree>
    <p:extLst>
      <p:ext uri="{BB962C8B-B14F-4D97-AF65-F5344CB8AC3E}">
        <p14:creationId xmlns:p14="http://schemas.microsoft.com/office/powerpoint/2010/main" val="271232468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BA0A1F-7C24-1160-E0AF-44152118C11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81282E7-7FD4-4307-FEE5-EFEA2E4B5B63}"/>
              </a:ext>
            </a:extLst>
          </p:cNvPr>
          <p:cNvSpPr>
            <a:spLocks noGrp="1"/>
          </p:cNvSpPr>
          <p:nvPr>
            <p:ph type="title"/>
          </p:nvPr>
        </p:nvSpPr>
        <p:spPr/>
        <p:txBody>
          <a:bodyPr>
            <a:noAutofit/>
          </a:bodyPr>
          <a:lstStyle/>
          <a:p>
            <a:r>
              <a:rPr lang="vi-VN" sz="3200" b="1">
                <a:latin typeface="Times New Roman" panose="02020603050405020304" pitchFamily="18" charset="0"/>
                <a:cs typeface="Times New Roman" panose="02020603050405020304" pitchFamily="18" charset="0"/>
              </a:rPr>
              <a:t>CHƯƠNG 3: HIỆN THỰC HÓA NGHIÊN CỨU</a:t>
            </a:r>
            <a:endParaRPr lang="en-US" sz="3200" b="1">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068667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70220-40AE-66CF-2E1E-5FE2E218E304}"/>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B98E62C7-344C-E837-A89E-9223EF733EBB}"/>
              </a:ext>
            </a:extLst>
          </p:cNvPr>
          <p:cNvSpPr>
            <a:spLocks noGrp="1"/>
          </p:cNvSpPr>
          <p:nvPr>
            <p:ph type="title"/>
          </p:nvPr>
        </p:nvSpPr>
        <p:spPr>
          <a:xfrm>
            <a:off x="1295402" y="845575"/>
            <a:ext cx="9609668" cy="860400"/>
          </a:xfrm>
        </p:spPr>
        <p:txBody>
          <a:bodyPr/>
          <a:lstStyle/>
          <a:p>
            <a:r>
              <a:rPr lang="vi-VN">
                <a:latin typeface="Times New Roman" panose="02020603050405020304" pitchFamily="18" charset="0"/>
                <a:cs typeface="Times New Roman" panose="02020603050405020304" pitchFamily="18" charset="0"/>
              </a:rPr>
              <a:t>MÔ TẢ BÀI TOÁN NGHIỆP VỤ </a:t>
            </a:r>
            <a:endParaRPr lang="en-US">
              <a:latin typeface="Times New Roman" panose="02020603050405020304" pitchFamily="18" charset="0"/>
              <a:cs typeface="Times New Roman" panose="02020603050405020304" pitchFamily="18" charset="0"/>
            </a:endParaRPr>
          </a:p>
        </p:txBody>
      </p:sp>
      <p:sp>
        <p:nvSpPr>
          <p:cNvPr id="2" name="TextBox 1">
            <a:extLst>
              <a:ext uri="{FF2B5EF4-FFF2-40B4-BE49-F238E27FC236}">
                <a16:creationId xmlns:a16="http://schemas.microsoft.com/office/drawing/2014/main" id="{1BA45DDD-9C39-4CB4-7742-F9D9883CC250}"/>
              </a:ext>
            </a:extLst>
          </p:cNvPr>
          <p:cNvSpPr txBox="1"/>
          <p:nvPr/>
        </p:nvSpPr>
        <p:spPr>
          <a:xfrm>
            <a:off x="1371600" y="2034540"/>
            <a:ext cx="7785735" cy="2306850"/>
          </a:xfrm>
          <a:prstGeom prst="rect">
            <a:avLst/>
          </a:prstGeom>
          <a:noFill/>
        </p:spPr>
        <p:txBody>
          <a:bodyPr wrap="square">
            <a:spAutoFit/>
          </a:bodyPr>
          <a:lstStyle/>
          <a:p>
            <a:pPr algn="l">
              <a:spcAft>
                <a:spcPts val="900"/>
              </a:spcAft>
              <a:buNone/>
            </a:pPr>
            <a:r>
              <a:rPr lang="vi-VN" sz="2000" b="1" i="0">
                <a:solidFill>
                  <a:srgbClr val="005088"/>
                </a:solidFill>
                <a:effectLst/>
                <a:latin typeface="Times New Roman" panose="02020603050405020304" pitchFamily="18" charset="0"/>
                <a:cs typeface="Times New Roman" panose="02020603050405020304" pitchFamily="18" charset="0"/>
              </a:rPr>
              <a:t>Thực tế vận hành :</a:t>
            </a:r>
          </a:p>
          <a:p>
            <a:pPr algn="l">
              <a:lnSpc>
                <a:spcPct val="150000"/>
              </a:lnSpc>
              <a:spcAft>
                <a:spcPts val="900"/>
              </a:spcAft>
              <a:buNone/>
            </a:pPr>
            <a:r>
              <a:rPr lang="vi-VN" sz="2000" i="0">
                <a:effectLst/>
                <a:latin typeface="Times New Roman" panose="02020603050405020304" pitchFamily="18" charset="0"/>
                <a:cs typeface="Times New Roman" panose="02020603050405020304" pitchFamily="18" charset="0"/>
              </a:rPr>
              <a:t>	Khách hàng quan tâm khóa học có thể đăng kí ngay hoặc gửi thông tin tư vấn. Sau khi được tư vấn, họ thực hiện việc chọn các khóa học và đăng kí ghi danh. Người quản trị có trách nhiệm phê duyệt trạng thái đăng kí của học viên sau khi kiểm tra các điều kiện.</a:t>
            </a:r>
          </a:p>
        </p:txBody>
      </p:sp>
      <p:sp>
        <p:nvSpPr>
          <p:cNvPr id="4" name="TextBox 3">
            <a:extLst>
              <a:ext uri="{FF2B5EF4-FFF2-40B4-BE49-F238E27FC236}">
                <a16:creationId xmlns:a16="http://schemas.microsoft.com/office/drawing/2014/main" id="{39EE71B2-98C4-024F-092C-A4BDAEF7C5C9}"/>
              </a:ext>
            </a:extLst>
          </p:cNvPr>
          <p:cNvSpPr txBox="1"/>
          <p:nvPr/>
        </p:nvSpPr>
        <p:spPr>
          <a:xfrm>
            <a:off x="884046" y="4748981"/>
            <a:ext cx="2024913" cy="923330"/>
          </a:xfrm>
          <a:prstGeom prst="rect">
            <a:avLst/>
          </a:prstGeom>
          <a:noFill/>
        </p:spPr>
        <p:txBody>
          <a:bodyPr wrap="none" rtlCol="0">
            <a:spAutoFit/>
          </a:bodyPr>
          <a:lstStyle/>
          <a:p>
            <a:pPr algn="ctr"/>
            <a:r>
              <a:rPr lang="vi-VN" b="1">
                <a:solidFill>
                  <a:srgbClr val="002060"/>
                </a:solidFill>
                <a:latin typeface="Times New Roman" panose="02020603050405020304" pitchFamily="18" charset="0"/>
                <a:cs typeface="Times New Roman" panose="02020603050405020304" pitchFamily="18" charset="0"/>
              </a:rPr>
              <a:t>Tra Cứu</a:t>
            </a:r>
          </a:p>
          <a:p>
            <a:pPr algn="ctr"/>
            <a:r>
              <a:rPr lang="vi-VN">
                <a:latin typeface="Times New Roman" panose="02020603050405020304" pitchFamily="18" charset="0"/>
                <a:cs typeface="Times New Roman" panose="02020603050405020304" pitchFamily="18" charset="0"/>
              </a:rPr>
              <a:t>Học viên tìm kiếm </a:t>
            </a:r>
          </a:p>
          <a:p>
            <a:pPr algn="ctr"/>
            <a:r>
              <a:rPr lang="vi-VN">
                <a:latin typeface="Times New Roman" panose="02020603050405020304" pitchFamily="18" charset="0"/>
                <a:cs typeface="Times New Roman" panose="02020603050405020304" pitchFamily="18" charset="0"/>
              </a:rPr>
              <a:t>thông tin khóa học. </a:t>
            </a:r>
            <a:endParaRPr lang="en-US">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6185CC55-1B3D-AF26-7223-FE5755DDFD5D}"/>
              </a:ext>
            </a:extLst>
          </p:cNvPr>
          <p:cNvSpPr txBox="1"/>
          <p:nvPr/>
        </p:nvSpPr>
        <p:spPr>
          <a:xfrm>
            <a:off x="3870859" y="4748981"/>
            <a:ext cx="1874231" cy="923330"/>
          </a:xfrm>
          <a:prstGeom prst="rect">
            <a:avLst/>
          </a:prstGeom>
          <a:noFill/>
        </p:spPr>
        <p:txBody>
          <a:bodyPr wrap="none" rtlCol="0">
            <a:spAutoFit/>
          </a:bodyPr>
          <a:lstStyle/>
          <a:p>
            <a:pPr algn="ctr"/>
            <a:r>
              <a:rPr lang="vi-VN" b="1">
                <a:solidFill>
                  <a:srgbClr val="002060"/>
                </a:solidFill>
                <a:latin typeface="Times New Roman" panose="02020603050405020304" pitchFamily="18" charset="0"/>
                <a:cs typeface="Times New Roman" panose="02020603050405020304" pitchFamily="18" charset="0"/>
              </a:rPr>
              <a:t>Tư vấn</a:t>
            </a:r>
          </a:p>
          <a:p>
            <a:pPr algn="ctr"/>
            <a:r>
              <a:rPr lang="vi-VN">
                <a:latin typeface="Times New Roman" panose="02020603050405020304" pitchFamily="18" charset="0"/>
                <a:cs typeface="Times New Roman" panose="02020603050405020304" pitchFamily="18" charset="0"/>
              </a:rPr>
              <a:t>Gửi yêu cầu hoặc </a:t>
            </a:r>
          </a:p>
          <a:p>
            <a:pPr algn="ctr"/>
            <a:r>
              <a:rPr lang="vi-VN">
                <a:latin typeface="Times New Roman" panose="02020603050405020304" pitchFamily="18" charset="0"/>
                <a:cs typeface="Times New Roman" panose="02020603050405020304" pitchFamily="18" charset="0"/>
              </a:rPr>
              <a:t>liên hệ trực tiếp.</a:t>
            </a: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9B21464D-41EE-F895-5685-06F9EA5E1765}"/>
              </a:ext>
            </a:extLst>
          </p:cNvPr>
          <p:cNvSpPr txBox="1"/>
          <p:nvPr/>
        </p:nvSpPr>
        <p:spPr>
          <a:xfrm>
            <a:off x="6668518" y="4748981"/>
            <a:ext cx="2121093" cy="923330"/>
          </a:xfrm>
          <a:prstGeom prst="rect">
            <a:avLst/>
          </a:prstGeom>
          <a:noFill/>
        </p:spPr>
        <p:txBody>
          <a:bodyPr wrap="none" rtlCol="0">
            <a:spAutoFit/>
          </a:bodyPr>
          <a:lstStyle/>
          <a:p>
            <a:pPr algn="ctr"/>
            <a:r>
              <a:rPr lang="vi-VN" b="1">
                <a:solidFill>
                  <a:srgbClr val="002060"/>
                </a:solidFill>
                <a:latin typeface="Times New Roman" panose="02020603050405020304" pitchFamily="18" charset="0"/>
                <a:cs typeface="Times New Roman" panose="02020603050405020304" pitchFamily="18" charset="0"/>
              </a:rPr>
              <a:t>Đăng ký</a:t>
            </a:r>
          </a:p>
          <a:p>
            <a:pPr algn="ctr"/>
            <a:r>
              <a:rPr lang="vi-VN">
                <a:latin typeface="Times New Roman" panose="02020603050405020304" pitchFamily="18" charset="0"/>
                <a:cs typeface="Times New Roman" panose="02020603050405020304" pitchFamily="18" charset="0"/>
              </a:rPr>
              <a:t>Đăng ký tài khoản &amp;</a:t>
            </a:r>
          </a:p>
          <a:p>
            <a:pPr algn="ctr"/>
            <a:r>
              <a:rPr lang="vi-VN">
                <a:latin typeface="Times New Roman" panose="02020603050405020304" pitchFamily="18" charset="0"/>
                <a:cs typeface="Times New Roman" panose="02020603050405020304" pitchFamily="18" charset="0"/>
              </a:rPr>
              <a:t>ghi danh khóa học.</a:t>
            </a: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B4C26E8E-EA67-94E0-19C2-2D7B0534251A}"/>
              </a:ext>
            </a:extLst>
          </p:cNvPr>
          <p:cNvSpPr txBox="1"/>
          <p:nvPr/>
        </p:nvSpPr>
        <p:spPr>
          <a:xfrm>
            <a:off x="9577993" y="4748981"/>
            <a:ext cx="1768433" cy="1200329"/>
          </a:xfrm>
          <a:prstGeom prst="rect">
            <a:avLst/>
          </a:prstGeom>
          <a:noFill/>
        </p:spPr>
        <p:txBody>
          <a:bodyPr wrap="none" rtlCol="0">
            <a:spAutoFit/>
          </a:bodyPr>
          <a:lstStyle/>
          <a:p>
            <a:pPr algn="ctr"/>
            <a:r>
              <a:rPr lang="vi-VN" b="1">
                <a:solidFill>
                  <a:srgbClr val="002060"/>
                </a:solidFill>
                <a:latin typeface="Times New Roman" panose="02020603050405020304" pitchFamily="18" charset="0"/>
                <a:cs typeface="Times New Roman" panose="02020603050405020304" pitchFamily="18" charset="0"/>
              </a:rPr>
              <a:t>Phê duyệt</a:t>
            </a:r>
          </a:p>
          <a:p>
            <a:pPr algn="ctr"/>
            <a:r>
              <a:rPr lang="vi-VN">
                <a:latin typeface="Times New Roman" panose="02020603050405020304" pitchFamily="18" charset="0"/>
                <a:cs typeface="Times New Roman" panose="02020603050405020304" pitchFamily="18" charset="0"/>
              </a:rPr>
              <a:t>Admin xác nhận </a:t>
            </a:r>
          </a:p>
          <a:p>
            <a:pPr algn="ctr"/>
            <a:r>
              <a:rPr lang="vi-VN">
                <a:latin typeface="Times New Roman" panose="02020603050405020304" pitchFamily="18" charset="0"/>
                <a:cs typeface="Times New Roman" panose="02020603050405020304" pitchFamily="18" charset="0"/>
              </a:rPr>
              <a:t>thông tin &amp; </a:t>
            </a:r>
          </a:p>
          <a:p>
            <a:pPr algn="ctr"/>
            <a:r>
              <a:rPr lang="vi-VN">
                <a:latin typeface="Times New Roman" panose="02020603050405020304" pitchFamily="18" charset="0"/>
                <a:cs typeface="Times New Roman" panose="02020603050405020304" pitchFamily="18" charset="0"/>
              </a:rPr>
              <a:t>quản lý học viên</a:t>
            </a:r>
            <a:endParaRPr lang="en-US">
              <a:latin typeface="Times New Roman" panose="02020603050405020304" pitchFamily="18" charset="0"/>
              <a:cs typeface="Times New Roman" panose="02020603050405020304" pitchFamily="18" charset="0"/>
            </a:endParaRPr>
          </a:p>
        </p:txBody>
      </p:sp>
      <p:cxnSp>
        <p:nvCxnSpPr>
          <p:cNvPr id="9" name="Straight Arrow Connector 8">
            <a:extLst>
              <a:ext uri="{FF2B5EF4-FFF2-40B4-BE49-F238E27FC236}">
                <a16:creationId xmlns:a16="http://schemas.microsoft.com/office/drawing/2014/main" id="{EF1BB64D-59F0-F53A-7B33-F3CD62F2F7CA}"/>
              </a:ext>
            </a:extLst>
          </p:cNvPr>
          <p:cNvCxnSpPr>
            <a:stCxn id="4" idx="3"/>
            <a:endCxn id="5" idx="1"/>
          </p:cNvCxnSpPr>
          <p:nvPr/>
        </p:nvCxnSpPr>
        <p:spPr>
          <a:xfrm>
            <a:off x="2908959" y="5210646"/>
            <a:ext cx="96190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2" name="Straight Arrow Connector 11">
            <a:extLst>
              <a:ext uri="{FF2B5EF4-FFF2-40B4-BE49-F238E27FC236}">
                <a16:creationId xmlns:a16="http://schemas.microsoft.com/office/drawing/2014/main" id="{D9B6C15B-DF7D-3A39-C611-74EE59705AD2}"/>
              </a:ext>
            </a:extLst>
          </p:cNvPr>
          <p:cNvCxnSpPr>
            <a:stCxn id="5" idx="3"/>
            <a:endCxn id="6" idx="1"/>
          </p:cNvCxnSpPr>
          <p:nvPr/>
        </p:nvCxnSpPr>
        <p:spPr>
          <a:xfrm>
            <a:off x="5745090" y="5210646"/>
            <a:ext cx="92342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Straight Arrow Connector 13">
            <a:extLst>
              <a:ext uri="{FF2B5EF4-FFF2-40B4-BE49-F238E27FC236}">
                <a16:creationId xmlns:a16="http://schemas.microsoft.com/office/drawing/2014/main" id="{AE721E56-5CBE-93AD-5B8B-E10C6AF37BC1}"/>
              </a:ext>
            </a:extLst>
          </p:cNvPr>
          <p:cNvCxnSpPr>
            <a:stCxn id="6" idx="3"/>
          </p:cNvCxnSpPr>
          <p:nvPr/>
        </p:nvCxnSpPr>
        <p:spPr>
          <a:xfrm>
            <a:off x="8789611" y="5210646"/>
            <a:ext cx="78838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17670419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1EB72-C639-4AD0-A26F-165749E348CA}"/>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C6B12B9E-8B4A-723E-F336-EEF5ED694217}"/>
              </a:ext>
            </a:extLst>
          </p:cNvPr>
          <p:cNvSpPr>
            <a:spLocks noGrp="1"/>
          </p:cNvSpPr>
          <p:nvPr>
            <p:ph type="title"/>
          </p:nvPr>
        </p:nvSpPr>
        <p:spPr>
          <a:xfrm>
            <a:off x="1295402" y="845575"/>
            <a:ext cx="9609668" cy="860400"/>
          </a:xfrm>
        </p:spPr>
        <p:txBody>
          <a:bodyPr/>
          <a:lstStyle/>
          <a:p>
            <a:r>
              <a:rPr lang="vi-VN">
                <a:latin typeface="Times New Roman" panose="02020603050405020304" pitchFamily="18" charset="0"/>
                <a:cs typeface="Times New Roman" panose="02020603050405020304" pitchFamily="18" charset="0"/>
              </a:rPr>
              <a:t>MỤC TIÊU</a:t>
            </a:r>
            <a:endParaRPr lang="en-US">
              <a:latin typeface="Times New Roman" panose="02020603050405020304" pitchFamily="18" charset="0"/>
              <a:cs typeface="Times New Roman" panose="02020603050405020304" pitchFamily="18" charset="0"/>
            </a:endParaRPr>
          </a:p>
        </p:txBody>
      </p:sp>
      <p:sp>
        <p:nvSpPr>
          <p:cNvPr id="2" name="TextBox 1">
            <a:extLst>
              <a:ext uri="{FF2B5EF4-FFF2-40B4-BE49-F238E27FC236}">
                <a16:creationId xmlns:a16="http://schemas.microsoft.com/office/drawing/2014/main" id="{518B788A-58B0-AF8E-52DD-EAB2243758A2}"/>
              </a:ext>
            </a:extLst>
          </p:cNvPr>
          <p:cNvSpPr txBox="1"/>
          <p:nvPr/>
        </p:nvSpPr>
        <p:spPr>
          <a:xfrm>
            <a:off x="1295402" y="2152527"/>
            <a:ext cx="4800599" cy="2177519"/>
          </a:xfrm>
          <a:prstGeom prst="rect">
            <a:avLst/>
          </a:prstGeom>
          <a:noFill/>
        </p:spPr>
        <p:txBody>
          <a:bodyPr wrap="square">
            <a:spAutoFit/>
          </a:bodyPr>
          <a:lstStyle/>
          <a:p>
            <a:pPr algn="l">
              <a:spcAft>
                <a:spcPts val="900"/>
              </a:spcAft>
              <a:buNone/>
            </a:pPr>
            <a:r>
              <a:rPr lang="vi-VN" sz="2000" b="1" i="0">
                <a:solidFill>
                  <a:srgbClr val="005088"/>
                </a:solidFill>
                <a:effectLst/>
                <a:latin typeface="Times New Roman" panose="02020603050405020304" pitchFamily="18" charset="0"/>
                <a:cs typeface="Times New Roman" panose="02020603050405020304" pitchFamily="18" charset="0"/>
              </a:rPr>
              <a:t>1. </a:t>
            </a:r>
            <a:r>
              <a:rPr lang="vi-VN" sz="2000" b="1">
                <a:solidFill>
                  <a:srgbClr val="005088"/>
                </a:solidFill>
                <a:latin typeface="Times New Roman" panose="02020603050405020304" pitchFamily="18" charset="0"/>
                <a:cs typeface="Times New Roman" panose="02020603050405020304" pitchFamily="18" charset="0"/>
              </a:rPr>
              <a:t>Về nghiệp vụ</a:t>
            </a:r>
            <a:r>
              <a:rPr lang="vi-VN" sz="2000" b="1" i="0">
                <a:solidFill>
                  <a:srgbClr val="005088"/>
                </a:solidFill>
                <a:effectLst/>
                <a:latin typeface="Times New Roman" panose="02020603050405020304" pitchFamily="18" charset="0"/>
                <a:cs typeface="Times New Roman" panose="02020603050405020304" pitchFamily="18" charset="0"/>
              </a:rPr>
              <a:t> </a:t>
            </a:r>
          </a:p>
          <a:p>
            <a:r>
              <a:rPr lang="vi-VN">
                <a:latin typeface="Times New Roman" panose="02020603050405020304" pitchFamily="18" charset="0"/>
                <a:cs typeface="Times New Roman" panose="02020603050405020304" pitchFamily="18" charset="0"/>
              </a:rPr>
              <a:t>- </a:t>
            </a:r>
            <a:r>
              <a:rPr lang="en-US">
                <a:latin typeface="Times New Roman" panose="02020603050405020304" pitchFamily="18" charset="0"/>
                <a:cs typeface="Times New Roman" panose="02020603050405020304" pitchFamily="18" charset="0"/>
              </a:rPr>
              <a:t>Tự động hóa quy trình tiếp nhận thông tin học viên.</a:t>
            </a:r>
          </a:p>
          <a:p>
            <a:r>
              <a:rPr lang="vi-VN">
                <a:latin typeface="Times New Roman" panose="02020603050405020304" pitchFamily="18" charset="0"/>
                <a:cs typeface="Times New Roman" panose="02020603050405020304" pitchFamily="18" charset="0"/>
              </a:rPr>
              <a:t>- </a:t>
            </a:r>
            <a:r>
              <a:rPr lang="en-US">
                <a:latin typeface="Times New Roman" panose="02020603050405020304" pitchFamily="18" charset="0"/>
                <a:cs typeface="Times New Roman" panose="02020603050405020304" pitchFamily="18" charset="0"/>
              </a:rPr>
              <a:t>Quản lý danh mục khóa học khoa học và dễ cập nhật.</a:t>
            </a:r>
          </a:p>
          <a:p>
            <a:r>
              <a:rPr lang="vi-VN">
                <a:latin typeface="Times New Roman" panose="02020603050405020304" pitchFamily="18" charset="0"/>
                <a:cs typeface="Times New Roman" panose="02020603050405020304" pitchFamily="18" charset="0"/>
              </a:rPr>
              <a:t>- </a:t>
            </a:r>
            <a:r>
              <a:rPr lang="en-US">
                <a:latin typeface="Times New Roman" panose="02020603050405020304" pitchFamily="18" charset="0"/>
                <a:cs typeface="Times New Roman" panose="02020603050405020304" pitchFamily="18" charset="0"/>
              </a:rPr>
              <a:t>Giảm thiểu thời gian xử lý thủ tục ghi danh trực tiếp.</a:t>
            </a:r>
          </a:p>
        </p:txBody>
      </p:sp>
      <p:sp>
        <p:nvSpPr>
          <p:cNvPr id="3" name="TextBox 2">
            <a:extLst>
              <a:ext uri="{FF2B5EF4-FFF2-40B4-BE49-F238E27FC236}">
                <a16:creationId xmlns:a16="http://schemas.microsoft.com/office/drawing/2014/main" id="{A7FA831B-59BD-B7AE-8BCA-289EBED38EFB}"/>
              </a:ext>
            </a:extLst>
          </p:cNvPr>
          <p:cNvSpPr txBox="1"/>
          <p:nvPr/>
        </p:nvSpPr>
        <p:spPr>
          <a:xfrm>
            <a:off x="6096000" y="2034540"/>
            <a:ext cx="5319253" cy="2173928"/>
          </a:xfrm>
          <a:prstGeom prst="rect">
            <a:avLst/>
          </a:prstGeom>
          <a:noFill/>
        </p:spPr>
        <p:txBody>
          <a:bodyPr wrap="square">
            <a:spAutoFit/>
          </a:bodyPr>
          <a:lstStyle/>
          <a:p>
            <a:pPr algn="l">
              <a:spcAft>
                <a:spcPts val="900"/>
              </a:spcAft>
              <a:buNone/>
            </a:pPr>
            <a:r>
              <a:rPr lang="vi-VN" sz="2000" b="1">
                <a:solidFill>
                  <a:srgbClr val="005088"/>
                </a:solidFill>
                <a:latin typeface="Times New Roman" panose="02020603050405020304" pitchFamily="18" charset="0"/>
                <a:cs typeface="Times New Roman" panose="02020603050405020304" pitchFamily="18" charset="0"/>
              </a:rPr>
              <a:t>2</a:t>
            </a:r>
            <a:r>
              <a:rPr lang="vi-VN" sz="2000" b="1" i="0">
                <a:solidFill>
                  <a:srgbClr val="005088"/>
                </a:solidFill>
                <a:effectLst/>
                <a:latin typeface="Times New Roman" panose="02020603050405020304" pitchFamily="18" charset="0"/>
                <a:cs typeface="Times New Roman" panose="02020603050405020304" pitchFamily="18" charset="0"/>
              </a:rPr>
              <a:t>. </a:t>
            </a:r>
            <a:r>
              <a:rPr lang="vi-VN" sz="2000" b="1">
                <a:solidFill>
                  <a:srgbClr val="005088"/>
                </a:solidFill>
                <a:latin typeface="Times New Roman" panose="02020603050405020304" pitchFamily="18" charset="0"/>
                <a:cs typeface="Times New Roman" panose="02020603050405020304" pitchFamily="18" charset="0"/>
              </a:rPr>
              <a:t>Về mặt kỹ thuật</a:t>
            </a:r>
            <a:r>
              <a:rPr lang="vi-VN" sz="2000" b="1" i="0">
                <a:solidFill>
                  <a:srgbClr val="005088"/>
                </a:solidFill>
                <a:effectLst/>
                <a:latin typeface="Times New Roman" panose="02020603050405020304" pitchFamily="18" charset="0"/>
                <a:cs typeface="Times New Roman" panose="02020603050405020304" pitchFamily="18" charset="0"/>
              </a:rPr>
              <a:t> </a:t>
            </a:r>
          </a:p>
          <a:p>
            <a:pPr>
              <a:lnSpc>
                <a:spcPct val="150000"/>
              </a:lnSpc>
            </a:pPr>
            <a:r>
              <a:rPr lang="vi-VN" sz="2000">
                <a:latin typeface="Times New Roman" panose="02020603050405020304" pitchFamily="18" charset="0"/>
                <a:cs typeface="Times New Roman" panose="02020603050405020304" pitchFamily="18" charset="0"/>
              </a:rPr>
              <a:t>- </a:t>
            </a:r>
            <a:r>
              <a:rPr lang="en-US">
                <a:latin typeface="Times New Roman" panose="02020603050405020304" pitchFamily="18" charset="0"/>
                <a:cs typeface="Times New Roman" panose="02020603050405020304" pitchFamily="18" charset="0"/>
              </a:rPr>
              <a:t>Giao diện trực quan, dễ sử dụng (UX/UI).</a:t>
            </a:r>
          </a:p>
          <a:p>
            <a:pPr>
              <a:lnSpc>
                <a:spcPct val="150000"/>
              </a:lnSpc>
            </a:pPr>
            <a:r>
              <a:rPr lang="vi-VN">
                <a:latin typeface="Times New Roman" panose="02020603050405020304" pitchFamily="18" charset="0"/>
                <a:cs typeface="Times New Roman" panose="02020603050405020304" pitchFamily="18" charset="0"/>
              </a:rPr>
              <a:t>- </a:t>
            </a:r>
            <a:r>
              <a:rPr lang="en-US">
                <a:latin typeface="Times New Roman" panose="02020603050405020304" pitchFamily="18" charset="0"/>
                <a:cs typeface="Times New Roman" panose="02020603050405020304" pitchFamily="18" charset="0"/>
              </a:rPr>
              <a:t>Đảm bảo tính toàn vẹn và bảo mật dữ liệu.</a:t>
            </a:r>
          </a:p>
          <a:p>
            <a:pPr>
              <a:lnSpc>
                <a:spcPct val="150000"/>
              </a:lnSpc>
            </a:pPr>
            <a:r>
              <a:rPr lang="vi-VN">
                <a:latin typeface="Times New Roman" panose="02020603050405020304" pitchFamily="18" charset="0"/>
                <a:cs typeface="Times New Roman" panose="02020603050405020304" pitchFamily="18" charset="0"/>
              </a:rPr>
              <a:t>- </a:t>
            </a:r>
            <a:r>
              <a:rPr lang="en-US">
                <a:latin typeface="Times New Roman" panose="02020603050405020304" pitchFamily="18" charset="0"/>
                <a:cs typeface="Times New Roman" panose="02020603050405020304" pitchFamily="18" charset="0"/>
              </a:rPr>
              <a:t>Hệ thống hoạt động ổn định trên nhiều thiết bị (Responsive).</a:t>
            </a:r>
          </a:p>
        </p:txBody>
      </p:sp>
    </p:spTree>
    <p:extLst>
      <p:ext uri="{BB962C8B-B14F-4D97-AF65-F5344CB8AC3E}">
        <p14:creationId xmlns:p14="http://schemas.microsoft.com/office/powerpoint/2010/main" val="34220798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AD62E7-EFB5-63C9-9A63-D667BD8A5C81}"/>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55A60989-FA2E-9EE7-4B27-BBF910C0B52E}"/>
              </a:ext>
            </a:extLst>
          </p:cNvPr>
          <p:cNvSpPr>
            <a:spLocks noGrp="1"/>
          </p:cNvSpPr>
          <p:nvPr>
            <p:ph type="title"/>
          </p:nvPr>
        </p:nvSpPr>
        <p:spPr>
          <a:xfrm>
            <a:off x="1295402" y="845575"/>
            <a:ext cx="9609668" cy="860400"/>
          </a:xfrm>
        </p:spPr>
        <p:txBody>
          <a:bodyPr/>
          <a:lstStyle/>
          <a:p>
            <a:r>
              <a:rPr lang="vi-VN">
                <a:latin typeface="Times New Roman" panose="02020603050405020304" pitchFamily="18" charset="0"/>
                <a:cs typeface="Times New Roman" panose="02020603050405020304" pitchFamily="18" charset="0"/>
              </a:rPr>
              <a:t>ĐẶC TẢ BÀI TOÁN </a:t>
            </a:r>
            <a:endParaRPr lang="en-US">
              <a:latin typeface="Times New Roman" panose="02020603050405020304" pitchFamily="18" charset="0"/>
              <a:cs typeface="Times New Roman" panose="02020603050405020304" pitchFamily="18" charset="0"/>
            </a:endParaRPr>
          </a:p>
        </p:txBody>
      </p:sp>
      <p:sp>
        <p:nvSpPr>
          <p:cNvPr id="2" name="TextBox 1">
            <a:extLst>
              <a:ext uri="{FF2B5EF4-FFF2-40B4-BE49-F238E27FC236}">
                <a16:creationId xmlns:a16="http://schemas.microsoft.com/office/drawing/2014/main" id="{64081222-FA8D-0FA6-EB01-34A646E94A52}"/>
              </a:ext>
            </a:extLst>
          </p:cNvPr>
          <p:cNvSpPr txBox="1"/>
          <p:nvPr/>
        </p:nvSpPr>
        <p:spPr>
          <a:xfrm>
            <a:off x="1295402" y="2034540"/>
            <a:ext cx="4800599" cy="2306850"/>
          </a:xfrm>
          <a:prstGeom prst="rect">
            <a:avLst/>
          </a:prstGeom>
          <a:noFill/>
        </p:spPr>
        <p:txBody>
          <a:bodyPr wrap="square">
            <a:spAutoFit/>
          </a:bodyPr>
          <a:lstStyle/>
          <a:p>
            <a:pPr algn="l">
              <a:spcAft>
                <a:spcPts val="900"/>
              </a:spcAft>
              <a:buNone/>
            </a:pPr>
            <a:r>
              <a:rPr lang="vi-VN" sz="2000" b="1" i="0">
                <a:solidFill>
                  <a:srgbClr val="005088"/>
                </a:solidFill>
                <a:effectLst/>
                <a:latin typeface="Times New Roman" panose="02020603050405020304" pitchFamily="18" charset="0"/>
                <a:cs typeface="Times New Roman" panose="02020603050405020304" pitchFamily="18" charset="0"/>
              </a:rPr>
              <a:t>1. Đối với người dùng </a:t>
            </a:r>
          </a:p>
          <a:p>
            <a:pPr algn="l">
              <a:lnSpc>
                <a:spcPct val="150000"/>
              </a:lnSpc>
              <a:spcAft>
                <a:spcPts val="900"/>
              </a:spcAft>
              <a:buNone/>
            </a:pPr>
            <a:r>
              <a:rPr lang="vi-VN" sz="2000" i="0">
                <a:effectLst/>
                <a:latin typeface="Times New Roman" panose="02020603050405020304" pitchFamily="18" charset="0"/>
                <a:cs typeface="Times New Roman" panose="02020603050405020304" pitchFamily="18" charset="0"/>
              </a:rPr>
              <a:t>	Người dùng có thể tra cứu các khóa học của trung tâm, gửi yêu cầu tư vấn, đăng ký tài khoản và theo dõi trạng thái khóa học cá nhân.</a:t>
            </a:r>
          </a:p>
        </p:txBody>
      </p:sp>
      <p:sp>
        <p:nvSpPr>
          <p:cNvPr id="3" name="TextBox 2">
            <a:extLst>
              <a:ext uri="{FF2B5EF4-FFF2-40B4-BE49-F238E27FC236}">
                <a16:creationId xmlns:a16="http://schemas.microsoft.com/office/drawing/2014/main" id="{9829E4A0-11E4-6739-8B73-CABD6F61EBF2}"/>
              </a:ext>
            </a:extLst>
          </p:cNvPr>
          <p:cNvSpPr txBox="1"/>
          <p:nvPr/>
        </p:nvSpPr>
        <p:spPr>
          <a:xfrm>
            <a:off x="6096000" y="2034540"/>
            <a:ext cx="5319253" cy="1845185"/>
          </a:xfrm>
          <a:prstGeom prst="rect">
            <a:avLst/>
          </a:prstGeom>
          <a:noFill/>
        </p:spPr>
        <p:txBody>
          <a:bodyPr wrap="square">
            <a:spAutoFit/>
          </a:bodyPr>
          <a:lstStyle/>
          <a:p>
            <a:pPr algn="l">
              <a:spcAft>
                <a:spcPts val="900"/>
              </a:spcAft>
              <a:buNone/>
            </a:pPr>
            <a:r>
              <a:rPr lang="vi-VN" sz="2000" b="1">
                <a:solidFill>
                  <a:srgbClr val="005088"/>
                </a:solidFill>
                <a:latin typeface="Times New Roman" panose="02020603050405020304" pitchFamily="18" charset="0"/>
                <a:cs typeface="Times New Roman" panose="02020603050405020304" pitchFamily="18" charset="0"/>
              </a:rPr>
              <a:t>2</a:t>
            </a:r>
            <a:r>
              <a:rPr lang="vi-VN" sz="2000" b="1" i="0">
                <a:solidFill>
                  <a:srgbClr val="005088"/>
                </a:solidFill>
                <a:effectLst/>
                <a:latin typeface="Times New Roman" panose="02020603050405020304" pitchFamily="18" charset="0"/>
                <a:cs typeface="Times New Roman" panose="02020603050405020304" pitchFamily="18" charset="0"/>
              </a:rPr>
              <a:t>. Đối với người quản trị </a:t>
            </a:r>
          </a:p>
          <a:p>
            <a:pPr algn="l">
              <a:lnSpc>
                <a:spcPct val="150000"/>
              </a:lnSpc>
              <a:spcAft>
                <a:spcPts val="900"/>
              </a:spcAft>
              <a:buNone/>
            </a:pPr>
            <a:r>
              <a:rPr lang="vi-VN" sz="2000" i="0">
                <a:effectLst/>
                <a:latin typeface="Times New Roman" panose="02020603050405020304" pitchFamily="18" charset="0"/>
                <a:cs typeface="Times New Roman" panose="02020603050405020304" pitchFamily="18" charset="0"/>
              </a:rPr>
              <a:t>	Người quản trị có thể quản lý nội dung website, khóa học (thêm, xóa, sửa,..), phê duyệt học viên và theo dõi thống kê truy cập.</a:t>
            </a:r>
          </a:p>
        </p:txBody>
      </p:sp>
    </p:spTree>
    <p:extLst>
      <p:ext uri="{BB962C8B-B14F-4D97-AF65-F5344CB8AC3E}">
        <p14:creationId xmlns:p14="http://schemas.microsoft.com/office/powerpoint/2010/main" val="18860035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032D27-15C4-56F6-896E-670642EDAFA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A339882-7506-CB1C-52B0-59037763F8D7}"/>
              </a:ext>
            </a:extLst>
          </p:cNvPr>
          <p:cNvSpPr>
            <a:spLocks noGrp="1"/>
          </p:cNvSpPr>
          <p:nvPr>
            <p:ph type="title"/>
          </p:nvPr>
        </p:nvSpPr>
        <p:spPr/>
        <p:txBody>
          <a:bodyPr>
            <a:noAutofit/>
          </a:bodyPr>
          <a:lstStyle/>
          <a:p>
            <a:r>
              <a:rPr lang="vi-VN" sz="3200" b="1">
                <a:latin typeface="Times New Roman" panose="02020603050405020304" pitchFamily="18" charset="0"/>
                <a:cs typeface="Times New Roman" panose="02020603050405020304" pitchFamily="18" charset="0"/>
              </a:rPr>
              <a:t>CHƯƠNG 4: KẾT QUẢ NGHIÊN CỨU</a:t>
            </a:r>
            <a:endParaRPr lang="en-US" sz="3200" b="1">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6373350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screenshot of a computer&#10;&#10;AI-generated content may be incorrect.">
            <a:extLst>
              <a:ext uri="{FF2B5EF4-FFF2-40B4-BE49-F238E27FC236}">
                <a16:creationId xmlns:a16="http://schemas.microsoft.com/office/drawing/2014/main" id="{5168D8FD-CAC7-7601-83DB-0C0E56559F9C}"/>
              </a:ext>
              <a:ext uri="{C183D7F6-B498-43B3-948B-1728B52AA6E4}">
                <adec:decorative xmlns:adec="http://schemas.microsoft.com/office/drawing/2017/decorative" val="0"/>
              </a:ext>
            </a:extLst>
          </p:cNvPr>
          <p:cNvPicPr>
            <a:picLocks noChangeAspect="1"/>
          </p:cNvPicPr>
          <p:nvPr/>
        </p:nvPicPr>
        <p:blipFill>
          <a:blip r:embed="rId2"/>
          <a:stretch>
            <a:fillRect/>
          </a:stretch>
        </p:blipFill>
        <p:spPr>
          <a:xfrm>
            <a:off x="452284" y="593704"/>
            <a:ext cx="11149779" cy="5886902"/>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
        <p:nvSpPr>
          <p:cNvPr id="5" name="TextBox 4">
            <a:extLst>
              <a:ext uri="{FF2B5EF4-FFF2-40B4-BE49-F238E27FC236}">
                <a16:creationId xmlns:a16="http://schemas.microsoft.com/office/drawing/2014/main" id="{FB64C693-1B31-2DCB-D352-8B5695722BCD}"/>
              </a:ext>
            </a:extLst>
          </p:cNvPr>
          <p:cNvSpPr txBox="1"/>
          <p:nvPr/>
        </p:nvSpPr>
        <p:spPr>
          <a:xfrm>
            <a:off x="6685935" y="1209368"/>
            <a:ext cx="4798142" cy="1508105"/>
          </a:xfrm>
          <a:prstGeom prst="rect">
            <a:avLst/>
          </a:prstGeom>
          <a:noFill/>
        </p:spPr>
        <p:txBody>
          <a:bodyPr wrap="square" rtlCol="0">
            <a:spAutoFit/>
          </a:bodyPr>
          <a:lstStyle/>
          <a:p>
            <a:r>
              <a:rPr lang="vi-VN" sz="2000">
                <a:solidFill>
                  <a:schemeClr val="tx1">
                    <a:lumMod val="85000"/>
                    <a:lumOff val="15000"/>
                  </a:schemeClr>
                </a:solidFill>
                <a:latin typeface="Times New Roman" panose="02020603050405020304" pitchFamily="18" charset="0"/>
                <a:cs typeface="Times New Roman" panose="02020603050405020304" pitchFamily="18" charset="0"/>
              </a:rPr>
              <a:t>Đặc điểm nổi bật </a:t>
            </a:r>
          </a:p>
          <a:p>
            <a:r>
              <a:rPr lang="vi-VN">
                <a:solidFill>
                  <a:schemeClr val="tx1">
                    <a:lumMod val="85000"/>
                    <a:lumOff val="15000"/>
                  </a:schemeClr>
                </a:solidFill>
                <a:latin typeface="Times New Roman" panose="02020603050405020304" pitchFamily="18" charset="0"/>
                <a:cs typeface="Times New Roman" panose="02020603050405020304" pitchFamily="18" charset="0"/>
              </a:rPr>
              <a:t>-Navbar tích hợp logo HNMT và menu điều hướng nhanh.</a:t>
            </a:r>
          </a:p>
          <a:p>
            <a:r>
              <a:rPr lang="vi-VN">
                <a:solidFill>
                  <a:schemeClr val="tx1">
                    <a:lumMod val="85000"/>
                    <a:lumOff val="15000"/>
                  </a:schemeClr>
                </a:solidFill>
                <a:latin typeface="Times New Roman" panose="02020603050405020304" pitchFamily="18" charset="0"/>
                <a:cs typeface="Times New Roman" panose="02020603050405020304" pitchFamily="18" charset="0"/>
              </a:rPr>
              <a:t>-Nút ‘Tư vấn miễn phí’ nổi bật.</a:t>
            </a:r>
          </a:p>
          <a:p>
            <a:r>
              <a:rPr lang="vi-VN">
                <a:solidFill>
                  <a:schemeClr val="tx1">
                    <a:lumMod val="85000"/>
                    <a:lumOff val="15000"/>
                  </a:schemeClr>
                </a:solidFill>
                <a:latin typeface="Times New Roman" panose="02020603050405020304" pitchFamily="18" charset="0"/>
                <a:cs typeface="Times New Roman" panose="02020603050405020304" pitchFamily="18" charset="0"/>
              </a:rPr>
              <a:t>-Section ‘khám phá khóa học’hiển thị trực quan.</a:t>
            </a:r>
            <a:endParaRPr lang="en-US">
              <a:solidFill>
                <a:schemeClr val="tx1">
                  <a:lumMod val="85000"/>
                  <a:lumOff val="15000"/>
                </a:schemeClr>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279349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245DB5-D8B5-0A47-3A7B-430FAB89D8AA}"/>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5E0CDEEC-2990-5D6F-6430-2D6AC1BB3BA5}"/>
              </a:ext>
            </a:extLst>
          </p:cNvPr>
          <p:cNvSpPr>
            <a:spLocks noGrp="1"/>
          </p:cNvSpPr>
          <p:nvPr>
            <p:ph type="title"/>
          </p:nvPr>
        </p:nvSpPr>
        <p:spPr>
          <a:xfrm>
            <a:off x="1295402" y="845575"/>
            <a:ext cx="9609668" cy="860400"/>
          </a:xfrm>
        </p:spPr>
        <p:txBody>
          <a:bodyPr/>
          <a:lstStyle/>
          <a:p>
            <a:r>
              <a:rPr lang="vi-VN">
                <a:latin typeface="Times New Roman" panose="02020603050405020304" pitchFamily="18" charset="0"/>
                <a:cs typeface="Times New Roman" panose="02020603050405020304" pitchFamily="18" charset="0"/>
              </a:rPr>
              <a:t>DANH SÁCH KHÓA HỌC VÀ TÌM KIẾM </a:t>
            </a: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2009FD9B-A5F0-F955-6AD8-48D0A2F257C2}"/>
              </a:ext>
            </a:extLst>
          </p:cNvPr>
          <p:cNvSpPr txBox="1"/>
          <p:nvPr/>
        </p:nvSpPr>
        <p:spPr>
          <a:xfrm>
            <a:off x="1291166" y="1848465"/>
            <a:ext cx="9609668" cy="873572"/>
          </a:xfrm>
          <a:prstGeom prst="rect">
            <a:avLst/>
          </a:prstGeom>
          <a:noFill/>
        </p:spPr>
        <p:txBody>
          <a:bodyPr wrap="square" rtlCol="0">
            <a:spAutoFit/>
          </a:bodyPr>
          <a:lstStyle/>
          <a:p>
            <a:pPr>
              <a:lnSpc>
                <a:spcPct val="150000"/>
              </a:lnSpc>
            </a:pPr>
            <a:r>
              <a:rPr lang="vi-VN">
                <a:latin typeface="Times New Roman" panose="02020603050405020304" pitchFamily="18" charset="0"/>
                <a:cs typeface="Times New Roman" panose="02020603050405020304" pitchFamily="18" charset="0"/>
              </a:rPr>
              <a:t>	Website hiển thị đầy đủ 9 khóa học với 2 danh mục lớn. Tích hợp bộ lọc thông minh giúp học viên tìm kiếm theo tên hoặc trình độ mong muốn, tối ưu hóa thời gian tra cứu.</a:t>
            </a:r>
          </a:p>
        </p:txBody>
      </p:sp>
      <p:pic>
        <p:nvPicPr>
          <p:cNvPr id="3" name="Picture 2">
            <a:extLst>
              <a:ext uri="{FF2B5EF4-FFF2-40B4-BE49-F238E27FC236}">
                <a16:creationId xmlns:a16="http://schemas.microsoft.com/office/drawing/2014/main" id="{3C9D2B94-29D3-49D4-6164-56FA0AA686F5}"/>
              </a:ext>
            </a:extLst>
          </p:cNvPr>
          <p:cNvPicPr>
            <a:picLocks noChangeAspect="1"/>
          </p:cNvPicPr>
          <p:nvPr/>
        </p:nvPicPr>
        <p:blipFill>
          <a:blip r:embed="rId2"/>
          <a:stretch>
            <a:fillRect/>
          </a:stretch>
        </p:blipFill>
        <p:spPr>
          <a:xfrm>
            <a:off x="1291166" y="2722037"/>
            <a:ext cx="9609668" cy="3446209"/>
          </a:xfrm>
          <a:prstGeom prst="rect">
            <a:avLst/>
          </a:prstGeom>
        </p:spPr>
      </p:pic>
    </p:spTree>
    <p:extLst>
      <p:ext uri="{BB962C8B-B14F-4D97-AF65-F5344CB8AC3E}">
        <p14:creationId xmlns:p14="http://schemas.microsoft.com/office/powerpoint/2010/main" val="282338139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F17D2B-06EB-5D63-E4FC-72E51B54ABBD}"/>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02AB8D02-BC09-21DB-825B-124365E7CC05}"/>
              </a:ext>
            </a:extLst>
          </p:cNvPr>
          <p:cNvSpPr>
            <a:spLocks noGrp="1"/>
          </p:cNvSpPr>
          <p:nvPr>
            <p:ph type="title"/>
          </p:nvPr>
        </p:nvSpPr>
        <p:spPr>
          <a:xfrm>
            <a:off x="1295402" y="845575"/>
            <a:ext cx="9609668" cy="860400"/>
          </a:xfrm>
        </p:spPr>
        <p:txBody>
          <a:bodyPr/>
          <a:lstStyle/>
          <a:p>
            <a:r>
              <a:rPr lang="vi-VN">
                <a:latin typeface="Times New Roman" panose="02020603050405020304" pitchFamily="18" charset="0"/>
                <a:cs typeface="Times New Roman" panose="02020603050405020304" pitchFamily="18" charset="0"/>
              </a:rPr>
              <a:t>ĐĂNG KÍ VÀ ĐĂNG NHẬP BẢO MẬT </a:t>
            </a: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0736BA8-4440-DD49-37E5-A89198F6F198}"/>
              </a:ext>
            </a:extLst>
          </p:cNvPr>
          <p:cNvSpPr txBox="1"/>
          <p:nvPr/>
        </p:nvSpPr>
        <p:spPr>
          <a:xfrm>
            <a:off x="1291166" y="1848465"/>
            <a:ext cx="9609668" cy="1289071"/>
          </a:xfrm>
          <a:prstGeom prst="rect">
            <a:avLst/>
          </a:prstGeom>
          <a:noFill/>
        </p:spPr>
        <p:txBody>
          <a:bodyPr wrap="square" rtlCol="0">
            <a:spAutoFit/>
          </a:bodyPr>
          <a:lstStyle/>
          <a:p>
            <a:pPr>
              <a:lnSpc>
                <a:spcPct val="150000"/>
              </a:lnSpc>
            </a:pPr>
            <a:r>
              <a:rPr lang="vi-VN">
                <a:latin typeface="Times New Roman" panose="02020603050405020304" pitchFamily="18" charset="0"/>
                <a:cs typeface="Times New Roman" panose="02020603050405020304" pitchFamily="18" charset="0"/>
              </a:rPr>
              <a:t>	Hệ thống sử dụng PHP session để duy trì trạng thái đăng nhập. From đăng nhập yêu cầu email và mật khẩu(đã mã hóa) để bảo vệ thông tin học viên. Chức năng đăng ký tích hợp Javascipt để kiểm tra tính hợp lệ của dữ liệu đầu vào.</a:t>
            </a:r>
          </a:p>
        </p:txBody>
      </p:sp>
      <p:pic>
        <p:nvPicPr>
          <p:cNvPr id="8" name="Picture 7">
            <a:extLst>
              <a:ext uri="{FF2B5EF4-FFF2-40B4-BE49-F238E27FC236}">
                <a16:creationId xmlns:a16="http://schemas.microsoft.com/office/drawing/2014/main" id="{633223F7-9586-86F4-EB53-E631684B3376}"/>
              </a:ext>
            </a:extLst>
          </p:cNvPr>
          <p:cNvPicPr>
            <a:picLocks noChangeAspect="1"/>
          </p:cNvPicPr>
          <p:nvPr/>
        </p:nvPicPr>
        <p:blipFill>
          <a:blip r:embed="rId2"/>
          <a:stretch>
            <a:fillRect/>
          </a:stretch>
        </p:blipFill>
        <p:spPr>
          <a:xfrm>
            <a:off x="4627774" y="2716429"/>
            <a:ext cx="2359821" cy="3428999"/>
          </a:xfrm>
          <a:prstGeom prst="rect">
            <a:avLst/>
          </a:prstGeom>
        </p:spPr>
      </p:pic>
      <p:pic>
        <p:nvPicPr>
          <p:cNvPr id="11" name="Picture 10">
            <a:extLst>
              <a:ext uri="{FF2B5EF4-FFF2-40B4-BE49-F238E27FC236}">
                <a16:creationId xmlns:a16="http://schemas.microsoft.com/office/drawing/2014/main" id="{79AAC107-FF8F-3817-7F3C-9C9E3E4F5E9A}"/>
              </a:ext>
            </a:extLst>
          </p:cNvPr>
          <p:cNvPicPr>
            <a:picLocks noChangeAspect="1"/>
          </p:cNvPicPr>
          <p:nvPr/>
        </p:nvPicPr>
        <p:blipFill>
          <a:blip r:embed="rId3"/>
          <a:stretch>
            <a:fillRect/>
          </a:stretch>
        </p:blipFill>
        <p:spPr>
          <a:xfrm>
            <a:off x="7288363" y="2716429"/>
            <a:ext cx="2359821" cy="3429000"/>
          </a:xfrm>
          <a:prstGeom prst="rect">
            <a:avLst/>
          </a:prstGeom>
        </p:spPr>
      </p:pic>
    </p:spTree>
    <p:extLst>
      <p:ext uri="{BB962C8B-B14F-4D97-AF65-F5344CB8AC3E}">
        <p14:creationId xmlns:p14="http://schemas.microsoft.com/office/powerpoint/2010/main" val="42795143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20E90D-385E-1C18-13FF-2E5C87F3349C}"/>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C29B24CA-A3F5-E367-05FD-67F38940FAE7}"/>
              </a:ext>
            </a:extLst>
          </p:cNvPr>
          <p:cNvSpPr>
            <a:spLocks noGrp="1"/>
          </p:cNvSpPr>
          <p:nvPr>
            <p:ph type="title"/>
          </p:nvPr>
        </p:nvSpPr>
        <p:spPr>
          <a:xfrm>
            <a:off x="1295402" y="845575"/>
            <a:ext cx="9609668" cy="860400"/>
          </a:xfrm>
        </p:spPr>
        <p:txBody>
          <a:bodyPr/>
          <a:lstStyle/>
          <a:p>
            <a:r>
              <a:rPr lang="vi-VN">
                <a:latin typeface="Times New Roman" panose="02020603050405020304" pitchFamily="18" charset="0"/>
                <a:cs typeface="Times New Roman" panose="02020603050405020304" pitchFamily="18" charset="0"/>
              </a:rPr>
              <a:t>NHẬN YÊU CẦU TƯ VẤN ONLINE </a:t>
            </a: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DBA3D49-0BD8-95DB-EEC5-ABD6D2C839E1}"/>
              </a:ext>
            </a:extLst>
          </p:cNvPr>
          <p:cNvSpPr txBox="1"/>
          <p:nvPr/>
        </p:nvSpPr>
        <p:spPr>
          <a:xfrm>
            <a:off x="1291166" y="1848465"/>
            <a:ext cx="9609668" cy="1335237"/>
          </a:xfrm>
          <a:prstGeom prst="rect">
            <a:avLst/>
          </a:prstGeom>
          <a:noFill/>
        </p:spPr>
        <p:txBody>
          <a:bodyPr wrap="square" rtlCol="0">
            <a:spAutoFit/>
          </a:bodyPr>
          <a:lstStyle/>
          <a:p>
            <a:pPr>
              <a:lnSpc>
                <a:spcPct val="150000"/>
              </a:lnSpc>
            </a:pPr>
            <a:r>
              <a:rPr lang="vi-VN" sz="2000">
                <a:solidFill>
                  <a:srgbClr val="00B0F0"/>
                </a:solidFill>
                <a:latin typeface="Times New Roman" panose="02020603050405020304" pitchFamily="18" charset="0"/>
                <a:cs typeface="Times New Roman" panose="02020603050405020304" pitchFamily="18" charset="0"/>
              </a:rPr>
              <a:t>Biểu mẫu hỗ trợ :</a:t>
            </a:r>
          </a:p>
          <a:p>
            <a:pPr>
              <a:lnSpc>
                <a:spcPct val="150000"/>
              </a:lnSpc>
            </a:pPr>
            <a:r>
              <a:rPr lang="vi-VN">
                <a:latin typeface="Times New Roman" panose="02020603050405020304" pitchFamily="18" charset="0"/>
                <a:cs typeface="Times New Roman" panose="02020603050405020304" pitchFamily="18" charset="0"/>
              </a:rPr>
              <a:t>	Học viên nhập thông tin cá nhân và tin nhắn. Sau khi gửi, dữ liệu lập tức đổ về bảng trong admin để bộ phận tuyển sinh liên hệ lại nhanh nhất.</a:t>
            </a:r>
          </a:p>
        </p:txBody>
      </p:sp>
    </p:spTree>
    <p:extLst>
      <p:ext uri="{BB962C8B-B14F-4D97-AF65-F5344CB8AC3E}">
        <p14:creationId xmlns:p14="http://schemas.microsoft.com/office/powerpoint/2010/main" val="287207498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89500A-D79B-E62A-C399-DE2299DF16C0}"/>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A9C3CD51-2F11-06EF-F625-E6A8E5AACA4F}"/>
              </a:ext>
            </a:extLst>
          </p:cNvPr>
          <p:cNvSpPr>
            <a:spLocks noGrp="1"/>
          </p:cNvSpPr>
          <p:nvPr>
            <p:ph type="title"/>
          </p:nvPr>
        </p:nvSpPr>
        <p:spPr>
          <a:xfrm>
            <a:off x="1295402" y="845575"/>
            <a:ext cx="9609668" cy="860400"/>
          </a:xfrm>
        </p:spPr>
        <p:txBody>
          <a:bodyPr/>
          <a:lstStyle/>
          <a:p>
            <a:r>
              <a:rPr lang="vi-VN">
                <a:latin typeface="Times New Roman" panose="02020603050405020304" pitchFamily="18" charset="0"/>
                <a:cs typeface="Times New Roman" panose="02020603050405020304" pitchFamily="18" charset="0"/>
              </a:rPr>
              <a:t>THEO DÕI KHÓA HỌC CÁ NHÂN </a:t>
            </a: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7E63C5FD-CD71-35C5-58A7-BFC583AF0A68}"/>
              </a:ext>
            </a:extLst>
          </p:cNvPr>
          <p:cNvSpPr txBox="1"/>
          <p:nvPr/>
        </p:nvSpPr>
        <p:spPr>
          <a:xfrm>
            <a:off x="1291166" y="1848465"/>
            <a:ext cx="9609668" cy="1289071"/>
          </a:xfrm>
          <a:prstGeom prst="rect">
            <a:avLst/>
          </a:prstGeom>
          <a:noFill/>
        </p:spPr>
        <p:txBody>
          <a:bodyPr wrap="square" rtlCol="0">
            <a:spAutoFit/>
          </a:bodyPr>
          <a:lstStyle/>
          <a:p>
            <a:pPr>
              <a:lnSpc>
                <a:spcPct val="150000"/>
              </a:lnSpc>
            </a:pPr>
            <a:r>
              <a:rPr lang="vi-VN">
                <a:latin typeface="Times New Roman" panose="02020603050405020304" pitchFamily="18" charset="0"/>
                <a:cs typeface="Times New Roman" panose="02020603050405020304" pitchFamily="18" charset="0"/>
              </a:rPr>
              <a:t>	Học viên có trang cá nhân riêng để xem danh sách các khóa học mình đã đăng ký ghi danh, kèm theo trạng thái’chờ duyệt’ hoặc ‘đã duyệt’ do trung tâm phê duyệt.Học viên cũng có thể hủy đăng ký khóa học đó.</a:t>
            </a:r>
          </a:p>
        </p:txBody>
      </p:sp>
      <p:pic>
        <p:nvPicPr>
          <p:cNvPr id="3" name="Picture 2">
            <a:extLst>
              <a:ext uri="{FF2B5EF4-FFF2-40B4-BE49-F238E27FC236}">
                <a16:creationId xmlns:a16="http://schemas.microsoft.com/office/drawing/2014/main" id="{B2F62DF7-FB4B-2CB4-DBE4-63A1F6FC66C6}"/>
              </a:ext>
            </a:extLst>
          </p:cNvPr>
          <p:cNvPicPr>
            <a:picLocks noChangeAspect="1"/>
          </p:cNvPicPr>
          <p:nvPr/>
        </p:nvPicPr>
        <p:blipFill>
          <a:blip r:embed="rId2"/>
          <a:stretch>
            <a:fillRect/>
          </a:stretch>
        </p:blipFill>
        <p:spPr>
          <a:xfrm>
            <a:off x="2864329" y="2750947"/>
            <a:ext cx="6938432" cy="3349968"/>
          </a:xfrm>
          <a:prstGeom prst="rect">
            <a:avLst/>
          </a:prstGeom>
        </p:spPr>
      </p:pic>
    </p:spTree>
    <p:extLst>
      <p:ext uri="{BB962C8B-B14F-4D97-AF65-F5344CB8AC3E}">
        <p14:creationId xmlns:p14="http://schemas.microsoft.com/office/powerpoint/2010/main" val="9442720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EB57BF-1596-E917-78EB-FF774FCF4B58}"/>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C4708A47-6CA8-612E-01DD-F41AE1D6A3E8}"/>
              </a:ext>
            </a:extLst>
          </p:cNvPr>
          <p:cNvSpPr>
            <a:spLocks noGrp="1"/>
          </p:cNvSpPr>
          <p:nvPr>
            <p:ph type="title"/>
          </p:nvPr>
        </p:nvSpPr>
        <p:spPr>
          <a:xfrm>
            <a:off x="1295402" y="845575"/>
            <a:ext cx="9609668" cy="860400"/>
          </a:xfrm>
        </p:spPr>
        <p:txBody>
          <a:bodyPr/>
          <a:lstStyle/>
          <a:p>
            <a:r>
              <a:rPr lang="vi-VN">
                <a:latin typeface="Times New Roman" panose="02020603050405020304" pitchFamily="18" charset="0"/>
                <a:cs typeface="Times New Roman" panose="02020603050405020304" pitchFamily="18" charset="0"/>
              </a:rPr>
              <a:t>QUẢN LÝ KHÓA HỌC VÀ NỘI DUNG </a:t>
            </a: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5F98F77-73F8-F3F1-7A78-090AEFEC7F9A}"/>
              </a:ext>
            </a:extLst>
          </p:cNvPr>
          <p:cNvSpPr txBox="1"/>
          <p:nvPr/>
        </p:nvSpPr>
        <p:spPr>
          <a:xfrm>
            <a:off x="1291166" y="1848465"/>
            <a:ext cx="9609668" cy="1289071"/>
          </a:xfrm>
          <a:prstGeom prst="rect">
            <a:avLst/>
          </a:prstGeom>
          <a:noFill/>
        </p:spPr>
        <p:txBody>
          <a:bodyPr wrap="square" rtlCol="0">
            <a:spAutoFit/>
          </a:bodyPr>
          <a:lstStyle/>
          <a:p>
            <a:pPr>
              <a:lnSpc>
                <a:spcPct val="150000"/>
              </a:lnSpc>
            </a:pPr>
            <a:r>
              <a:rPr lang="vi-VN">
                <a:latin typeface="Times New Roman" panose="02020603050405020304" pitchFamily="18" charset="0"/>
                <a:cs typeface="Times New Roman" panose="02020603050405020304" pitchFamily="18" charset="0"/>
              </a:rPr>
              <a:t>	Admin thực hiện các thao tác thêm mới khóa học, chỉnh sửa học phí/lịch học,... Hoặc xóa các chương trình không còn tuyển sinh. Mọi thay đổi đều được cập nhật thời gian thực lên trang chủ người dùng.</a:t>
            </a:r>
          </a:p>
        </p:txBody>
      </p:sp>
      <p:sp>
        <p:nvSpPr>
          <p:cNvPr id="2" name="Title 9">
            <a:extLst>
              <a:ext uri="{FF2B5EF4-FFF2-40B4-BE49-F238E27FC236}">
                <a16:creationId xmlns:a16="http://schemas.microsoft.com/office/drawing/2014/main" id="{853102F9-6F2C-0A07-305D-A1E6CD9BF67D}"/>
              </a:ext>
            </a:extLst>
          </p:cNvPr>
          <p:cNvSpPr txBox="1">
            <a:spLocks/>
          </p:cNvSpPr>
          <p:nvPr/>
        </p:nvSpPr>
        <p:spPr>
          <a:xfrm>
            <a:off x="1291166" y="3216195"/>
            <a:ext cx="9609668" cy="860400"/>
          </a:xfrm>
          <a:prstGeom prst="rect">
            <a:avLst/>
          </a:prstGeom>
          <a:effectLst/>
        </p:spPr>
        <p:txBody>
          <a:bodyPr vert="horz" lIns="91440" tIns="45720" rIns="91440" bIns="45720" rtlCol="0" anchor="b">
            <a:normAutofit/>
          </a:bodyPr>
          <a:lstStyle>
            <a:lvl1pPr algn="l" defTabSz="457200" rtl="0" eaLnBrk="1" latinLnBrk="0" hangingPunct="1">
              <a:spcBef>
                <a:spcPct val="0"/>
              </a:spcBef>
              <a:buNone/>
              <a:defRPr sz="3200" b="0" kern="1200" cap="none">
                <a:ln w="3175" cmpd="sng">
                  <a:noFill/>
                </a:ln>
                <a:solidFill>
                  <a:schemeClr val="tx1">
                    <a:lumMod val="85000"/>
                    <a:lumOff val="15000"/>
                  </a:schemeClr>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vi-VN">
                <a:latin typeface="Times New Roman" panose="02020603050405020304" pitchFamily="18" charset="0"/>
                <a:cs typeface="Times New Roman" panose="02020603050405020304" pitchFamily="18" charset="0"/>
              </a:rPr>
              <a:t>PHÊ DUYỆT ĐƠN ĐĂNG KÝ HỌC VIÊN </a:t>
            </a: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8893407A-E1A3-034A-5627-2B2CCC409EBB}"/>
              </a:ext>
            </a:extLst>
          </p:cNvPr>
          <p:cNvSpPr txBox="1"/>
          <p:nvPr/>
        </p:nvSpPr>
        <p:spPr>
          <a:xfrm>
            <a:off x="1291166" y="4076595"/>
            <a:ext cx="9609668" cy="1289071"/>
          </a:xfrm>
          <a:prstGeom prst="rect">
            <a:avLst/>
          </a:prstGeom>
          <a:noFill/>
        </p:spPr>
        <p:txBody>
          <a:bodyPr wrap="square" rtlCol="0">
            <a:spAutoFit/>
          </a:bodyPr>
          <a:lstStyle/>
          <a:p>
            <a:pPr>
              <a:lnSpc>
                <a:spcPct val="150000"/>
              </a:lnSpc>
            </a:pPr>
            <a:r>
              <a:rPr lang="vi-VN">
                <a:latin typeface="Times New Roman" panose="02020603050405020304" pitchFamily="18" charset="0"/>
                <a:cs typeface="Times New Roman" panose="02020603050405020304" pitchFamily="18" charset="0"/>
              </a:rPr>
              <a:t>	Nghiệp vụ quan trọng nhất: Admin tiếp nhận đơn ghi danh từ bảng dữ liệu, xác nhận thông tin thanh toán của học viên và thực hiện chuyển trạng thái thành ‘đã duyệt’ để cấp quyền nhập học chính thức.</a:t>
            </a:r>
          </a:p>
        </p:txBody>
      </p:sp>
    </p:spTree>
    <p:extLst>
      <p:ext uri="{BB962C8B-B14F-4D97-AF65-F5344CB8AC3E}">
        <p14:creationId xmlns:p14="http://schemas.microsoft.com/office/powerpoint/2010/main" val="113572336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46F054-ED45-78C7-5098-1A334AF59F33}"/>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11AF8A89-71FD-1EE4-500F-3F528243857B}"/>
              </a:ext>
            </a:extLst>
          </p:cNvPr>
          <p:cNvSpPr>
            <a:spLocks noGrp="1"/>
          </p:cNvSpPr>
          <p:nvPr>
            <p:ph type="title"/>
          </p:nvPr>
        </p:nvSpPr>
        <p:spPr>
          <a:xfrm>
            <a:off x="1295402" y="845575"/>
            <a:ext cx="9609668" cy="860400"/>
          </a:xfrm>
        </p:spPr>
        <p:txBody>
          <a:bodyPr/>
          <a:lstStyle/>
          <a:p>
            <a:r>
              <a:rPr lang="vi-VN">
                <a:latin typeface="Times New Roman" panose="02020603050405020304" pitchFamily="18" charset="0"/>
                <a:cs typeface="Times New Roman" panose="02020603050405020304" pitchFamily="18" charset="0"/>
              </a:rPr>
              <a:t>HIỂN THỊ DA THIẾT BỊ  </a:t>
            </a: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86DE9FA-473B-E4BD-A31D-FF40D81EB7FE}"/>
              </a:ext>
            </a:extLst>
          </p:cNvPr>
          <p:cNvSpPr txBox="1"/>
          <p:nvPr/>
        </p:nvSpPr>
        <p:spPr>
          <a:xfrm>
            <a:off x="1291166" y="1848465"/>
            <a:ext cx="9609668" cy="873572"/>
          </a:xfrm>
          <a:prstGeom prst="rect">
            <a:avLst/>
          </a:prstGeom>
          <a:noFill/>
        </p:spPr>
        <p:txBody>
          <a:bodyPr wrap="square" rtlCol="0">
            <a:spAutoFit/>
          </a:bodyPr>
          <a:lstStyle/>
          <a:p>
            <a:pPr>
              <a:lnSpc>
                <a:spcPct val="150000"/>
              </a:lnSpc>
            </a:pPr>
            <a:r>
              <a:rPr lang="vi-VN">
                <a:latin typeface="Times New Roman" panose="02020603050405020304" pitchFamily="18" charset="0"/>
                <a:cs typeface="Times New Roman" panose="02020603050405020304" pitchFamily="18" charset="0"/>
              </a:rPr>
              <a:t>	Website hiển thị hoàn hảo trên nhiều thiết bị nhờ sự hỗ trợ của Bootstrap5, đảm bảo trải nghiệm người dùng không bị gián đoạn.</a:t>
            </a:r>
          </a:p>
        </p:txBody>
      </p:sp>
      <p:sp>
        <p:nvSpPr>
          <p:cNvPr id="2" name="Title 9">
            <a:extLst>
              <a:ext uri="{FF2B5EF4-FFF2-40B4-BE49-F238E27FC236}">
                <a16:creationId xmlns:a16="http://schemas.microsoft.com/office/drawing/2014/main" id="{D276C2D6-558D-7471-F171-8A913B0EA7F0}"/>
              </a:ext>
            </a:extLst>
          </p:cNvPr>
          <p:cNvSpPr txBox="1">
            <a:spLocks/>
          </p:cNvSpPr>
          <p:nvPr/>
        </p:nvSpPr>
        <p:spPr>
          <a:xfrm>
            <a:off x="1291166" y="2864527"/>
            <a:ext cx="9609668" cy="860400"/>
          </a:xfrm>
          <a:prstGeom prst="rect">
            <a:avLst/>
          </a:prstGeom>
          <a:effectLst/>
        </p:spPr>
        <p:txBody>
          <a:bodyPr vert="horz" lIns="91440" tIns="45720" rIns="91440" bIns="45720" rtlCol="0" anchor="b">
            <a:normAutofit/>
          </a:bodyPr>
          <a:lstStyle>
            <a:lvl1pPr algn="l" defTabSz="457200" rtl="0" eaLnBrk="1" latinLnBrk="0" hangingPunct="1">
              <a:spcBef>
                <a:spcPct val="0"/>
              </a:spcBef>
              <a:buNone/>
              <a:defRPr sz="3200" b="0" kern="1200" cap="none">
                <a:ln w="3175" cmpd="sng">
                  <a:noFill/>
                </a:ln>
                <a:solidFill>
                  <a:schemeClr val="tx1">
                    <a:lumMod val="85000"/>
                    <a:lumOff val="15000"/>
                  </a:schemeClr>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vi-VN">
                <a:latin typeface="Times New Roman" panose="02020603050405020304" pitchFamily="18" charset="0"/>
                <a:cs typeface="Times New Roman" panose="02020603050405020304" pitchFamily="18" charset="0"/>
              </a:rPr>
              <a:t>HỆ THỐNG QUẢN TRỊ DASHBOARD </a:t>
            </a: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40F33FE-18E6-BB11-1983-57DF32AACEFA}"/>
              </a:ext>
            </a:extLst>
          </p:cNvPr>
          <p:cNvSpPr txBox="1"/>
          <p:nvPr/>
        </p:nvSpPr>
        <p:spPr>
          <a:xfrm>
            <a:off x="1291166" y="3867417"/>
            <a:ext cx="9609668" cy="1704569"/>
          </a:xfrm>
          <a:prstGeom prst="rect">
            <a:avLst/>
          </a:prstGeom>
          <a:noFill/>
        </p:spPr>
        <p:txBody>
          <a:bodyPr wrap="square" rtlCol="0">
            <a:spAutoFit/>
          </a:bodyPr>
          <a:lstStyle/>
          <a:p>
            <a:pPr>
              <a:lnSpc>
                <a:spcPct val="150000"/>
              </a:lnSpc>
            </a:pPr>
            <a:r>
              <a:rPr lang="vi-VN">
                <a:latin typeface="Times New Roman" panose="02020603050405020304" pitchFamily="18" charset="0"/>
                <a:cs typeface="Times New Roman" panose="02020603050405020304" pitchFamily="18" charset="0"/>
              </a:rPr>
              <a:t>Chức năng quản trị:</a:t>
            </a:r>
          </a:p>
          <a:p>
            <a:pPr>
              <a:lnSpc>
                <a:spcPct val="150000"/>
              </a:lnSpc>
            </a:pPr>
            <a:r>
              <a:rPr lang="vi-VN">
                <a:latin typeface="Times New Roman" panose="02020603050405020304" pitchFamily="18" charset="0"/>
                <a:cs typeface="Times New Roman" panose="02020603050405020304" pitchFamily="18" charset="0"/>
              </a:rPr>
              <a:t>	- Thống kê lượt truy cập website</a:t>
            </a:r>
          </a:p>
          <a:p>
            <a:pPr>
              <a:lnSpc>
                <a:spcPct val="150000"/>
              </a:lnSpc>
            </a:pPr>
            <a:r>
              <a:rPr lang="vi-VN">
                <a:latin typeface="Times New Roman" panose="02020603050405020304" pitchFamily="18" charset="0"/>
                <a:cs typeface="Times New Roman" panose="02020603050405020304" pitchFamily="18" charset="0"/>
              </a:rPr>
              <a:t>	-Theo dõi danh sách yêu cầu tư vấn mới</a:t>
            </a:r>
          </a:p>
          <a:p>
            <a:pPr>
              <a:lnSpc>
                <a:spcPct val="150000"/>
              </a:lnSpc>
            </a:pPr>
            <a:r>
              <a:rPr lang="vi-VN">
                <a:latin typeface="Times New Roman" panose="02020603050405020304" pitchFamily="18" charset="0"/>
                <a:cs typeface="Times New Roman" panose="02020603050405020304" pitchFamily="18" charset="0"/>
              </a:rPr>
              <a:t>	-Quản lý toàn diện cơ sở dữ liệu</a:t>
            </a:r>
          </a:p>
        </p:txBody>
      </p:sp>
    </p:spTree>
    <p:extLst>
      <p:ext uri="{BB962C8B-B14F-4D97-AF65-F5344CB8AC3E}">
        <p14:creationId xmlns:p14="http://schemas.microsoft.com/office/powerpoint/2010/main" val="109878759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9A7158-3D06-CC7A-0F54-4056E48DA2F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C373F1A-655C-0FDE-EB23-9429C84ADF83}"/>
              </a:ext>
            </a:extLst>
          </p:cNvPr>
          <p:cNvSpPr>
            <a:spLocks noGrp="1"/>
          </p:cNvSpPr>
          <p:nvPr>
            <p:ph type="title"/>
          </p:nvPr>
        </p:nvSpPr>
        <p:spPr/>
        <p:txBody>
          <a:bodyPr>
            <a:noAutofit/>
          </a:bodyPr>
          <a:lstStyle/>
          <a:p>
            <a:r>
              <a:rPr lang="vi-VN" sz="3200" b="1">
                <a:latin typeface="Times New Roman" panose="02020603050405020304" pitchFamily="18" charset="0"/>
                <a:cs typeface="Times New Roman" panose="02020603050405020304" pitchFamily="18" charset="0"/>
              </a:rPr>
              <a:t>CHƯƠNG 5: KẾT LUẬN VÀ PHÁT TRIỂN</a:t>
            </a:r>
            <a:endParaRPr lang="en-US" sz="3200" b="1">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5749663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04B5C8-2649-503C-B25D-395E712C94EA}"/>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F638CF24-F48A-52B1-1889-15C3FFAA785F}"/>
              </a:ext>
            </a:extLst>
          </p:cNvPr>
          <p:cNvSpPr>
            <a:spLocks noGrp="1"/>
          </p:cNvSpPr>
          <p:nvPr>
            <p:ph type="title"/>
          </p:nvPr>
        </p:nvSpPr>
        <p:spPr>
          <a:xfrm>
            <a:off x="1295402" y="845575"/>
            <a:ext cx="9609668" cy="860400"/>
          </a:xfrm>
        </p:spPr>
        <p:txBody>
          <a:bodyPr/>
          <a:lstStyle/>
          <a:p>
            <a:r>
              <a:rPr lang="vi-VN">
                <a:latin typeface="Times New Roman" panose="02020603050405020304" pitchFamily="18" charset="0"/>
                <a:cs typeface="Times New Roman" panose="02020603050405020304" pitchFamily="18" charset="0"/>
              </a:rPr>
              <a:t>KẾT QUẢ ĐẠT ĐƯỢC </a:t>
            </a:r>
            <a:endParaRPr lang="en-US">
              <a:latin typeface="Times New Roman" panose="02020603050405020304" pitchFamily="18" charset="0"/>
              <a:cs typeface="Times New Roman" panose="02020603050405020304" pitchFamily="18" charset="0"/>
            </a:endParaRPr>
          </a:p>
        </p:txBody>
      </p:sp>
      <p:sp>
        <p:nvSpPr>
          <p:cNvPr id="2" name="TextBox 1">
            <a:extLst>
              <a:ext uri="{FF2B5EF4-FFF2-40B4-BE49-F238E27FC236}">
                <a16:creationId xmlns:a16="http://schemas.microsoft.com/office/drawing/2014/main" id="{7D82135D-5316-E7C7-76D3-614304D2902C}"/>
              </a:ext>
            </a:extLst>
          </p:cNvPr>
          <p:cNvSpPr txBox="1"/>
          <p:nvPr/>
        </p:nvSpPr>
        <p:spPr>
          <a:xfrm>
            <a:off x="1295402" y="2034540"/>
            <a:ext cx="4702275" cy="2958759"/>
          </a:xfrm>
          <a:prstGeom prst="rect">
            <a:avLst/>
          </a:prstGeom>
          <a:noFill/>
        </p:spPr>
        <p:txBody>
          <a:bodyPr wrap="square">
            <a:spAutoFit/>
          </a:bodyPr>
          <a:lstStyle/>
          <a:p>
            <a:pPr algn="l">
              <a:spcAft>
                <a:spcPts val="900"/>
              </a:spcAft>
              <a:buNone/>
            </a:pPr>
            <a:r>
              <a:rPr lang="vi-VN" sz="2000" b="1" i="0">
                <a:solidFill>
                  <a:srgbClr val="005088"/>
                </a:solidFill>
                <a:effectLst/>
                <a:latin typeface="Times New Roman" panose="02020603050405020304" pitchFamily="18" charset="0"/>
                <a:cs typeface="Times New Roman" panose="02020603050405020304" pitchFamily="18" charset="0"/>
              </a:rPr>
              <a:t>THÀNH CÔNG </a:t>
            </a:r>
          </a:p>
          <a:p>
            <a:pPr>
              <a:lnSpc>
                <a:spcPct val="150000"/>
              </a:lnSpc>
            </a:pPr>
            <a:r>
              <a:rPr lang="vi-VN">
                <a:latin typeface="Times New Roman" panose="02020603050405020304" pitchFamily="18" charset="0"/>
                <a:cs typeface="Times New Roman" panose="02020603050405020304" pitchFamily="18" charset="0"/>
              </a:rPr>
              <a:t>	Hoàn thiện hệ thống Website với đầy đủ tính năng tra cứu và quản lý ghi danh.</a:t>
            </a:r>
          </a:p>
          <a:p>
            <a:pPr>
              <a:lnSpc>
                <a:spcPct val="150000"/>
              </a:lnSpc>
            </a:pPr>
            <a:r>
              <a:rPr lang="vi-VN">
                <a:latin typeface="Times New Roman" panose="02020603050405020304" pitchFamily="18" charset="0"/>
                <a:cs typeface="Times New Roman" panose="02020603050405020304" pitchFamily="18" charset="0"/>
              </a:rPr>
              <a:t>	Nắm vững quy trình phát triển Web thực tế từ Front-end đến Back-end.</a:t>
            </a:r>
          </a:p>
          <a:p>
            <a:pPr>
              <a:lnSpc>
                <a:spcPct val="150000"/>
              </a:lnSpc>
            </a:pPr>
            <a:r>
              <a:rPr lang="vi-VN">
                <a:latin typeface="Times New Roman" panose="02020603050405020304" pitchFamily="18" charset="0"/>
                <a:cs typeface="Times New Roman" panose="02020603050405020304" pitchFamily="18" charset="0"/>
              </a:rPr>
              <a:t>	Sử dụng thành thạo PHP, MySQL và các thư viện hỗ trợ.</a:t>
            </a:r>
          </a:p>
        </p:txBody>
      </p:sp>
      <p:sp>
        <p:nvSpPr>
          <p:cNvPr id="3" name="TextBox 2">
            <a:extLst>
              <a:ext uri="{FF2B5EF4-FFF2-40B4-BE49-F238E27FC236}">
                <a16:creationId xmlns:a16="http://schemas.microsoft.com/office/drawing/2014/main" id="{B743F8FE-0CA5-83C2-9A9D-CF00692FD45E}"/>
              </a:ext>
            </a:extLst>
          </p:cNvPr>
          <p:cNvSpPr txBox="1"/>
          <p:nvPr/>
        </p:nvSpPr>
        <p:spPr>
          <a:xfrm>
            <a:off x="6096000" y="2034540"/>
            <a:ext cx="5319253" cy="2543260"/>
          </a:xfrm>
          <a:prstGeom prst="rect">
            <a:avLst/>
          </a:prstGeom>
          <a:noFill/>
        </p:spPr>
        <p:txBody>
          <a:bodyPr wrap="square">
            <a:spAutoFit/>
          </a:bodyPr>
          <a:lstStyle/>
          <a:p>
            <a:pPr algn="l">
              <a:spcAft>
                <a:spcPts val="900"/>
              </a:spcAft>
              <a:buNone/>
            </a:pPr>
            <a:r>
              <a:rPr lang="vi-VN" sz="2000" b="1" i="0">
                <a:solidFill>
                  <a:srgbClr val="005088"/>
                </a:solidFill>
                <a:effectLst/>
                <a:latin typeface="Times New Roman" panose="02020603050405020304" pitchFamily="18" charset="0"/>
                <a:cs typeface="Times New Roman" panose="02020603050405020304" pitchFamily="18" charset="0"/>
              </a:rPr>
              <a:t>HẠN CHẾ </a:t>
            </a:r>
          </a:p>
          <a:p>
            <a:pPr>
              <a:lnSpc>
                <a:spcPct val="150000"/>
              </a:lnSpc>
            </a:pPr>
            <a:r>
              <a:rPr lang="vi-VN">
                <a:latin typeface="Times New Roman" panose="02020603050405020304" pitchFamily="18" charset="0"/>
                <a:cs typeface="Times New Roman" panose="02020603050405020304" pitchFamily="18" charset="0"/>
              </a:rPr>
              <a:t>	Chưa tích hợp cổng thanh toán trực tuyến (VNPay,Momo,....).</a:t>
            </a:r>
          </a:p>
          <a:p>
            <a:pPr>
              <a:lnSpc>
                <a:spcPct val="150000"/>
              </a:lnSpc>
            </a:pPr>
            <a:r>
              <a:rPr lang="vi-VN">
                <a:latin typeface="Times New Roman" panose="02020603050405020304" pitchFamily="18" charset="0"/>
                <a:cs typeface="Times New Roman" panose="02020603050405020304" pitchFamily="18" charset="0"/>
              </a:rPr>
              <a:t>	Chưa có hệ thống gửi Email thông báo tự động cho học viên.</a:t>
            </a:r>
          </a:p>
          <a:p>
            <a:pPr>
              <a:lnSpc>
                <a:spcPct val="150000"/>
              </a:lnSpc>
            </a:pPr>
            <a:r>
              <a:rPr lang="vi-VN">
                <a:latin typeface="Times New Roman" panose="02020603050405020304" pitchFamily="18" charset="0"/>
                <a:cs typeface="Times New Roman" panose="02020603050405020304" pitchFamily="18" charset="0"/>
              </a:rPr>
              <a:t>	Dữ liệu thống kê Admin còn ở mức cơ bản.</a:t>
            </a:r>
          </a:p>
        </p:txBody>
      </p:sp>
    </p:spTree>
    <p:extLst>
      <p:ext uri="{BB962C8B-B14F-4D97-AF65-F5344CB8AC3E}">
        <p14:creationId xmlns:p14="http://schemas.microsoft.com/office/powerpoint/2010/main" val="329988082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1AB009-F9C2-6A1F-56F9-CCE752A770B8}"/>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37E913C3-C8E7-7884-625A-1C43FE75A35B}"/>
              </a:ext>
            </a:extLst>
          </p:cNvPr>
          <p:cNvSpPr>
            <a:spLocks noGrp="1"/>
          </p:cNvSpPr>
          <p:nvPr>
            <p:ph type="title"/>
          </p:nvPr>
        </p:nvSpPr>
        <p:spPr>
          <a:xfrm>
            <a:off x="1295402" y="845575"/>
            <a:ext cx="9609668" cy="860400"/>
          </a:xfrm>
        </p:spPr>
        <p:txBody>
          <a:bodyPr/>
          <a:lstStyle/>
          <a:p>
            <a:r>
              <a:rPr lang="vi-VN">
                <a:solidFill>
                  <a:schemeClr val="tx1"/>
                </a:solidFill>
                <a:latin typeface="Times New Roman" panose="02020603050405020304" pitchFamily="18" charset="0"/>
                <a:cs typeface="Times New Roman" panose="02020603050405020304" pitchFamily="18" charset="0"/>
              </a:rPr>
              <a:t>HƯỚNG PHÁT TRIỂN </a:t>
            </a:r>
            <a:endParaRPr lang="en-US">
              <a:solidFill>
                <a:schemeClr val="tx1"/>
              </a:solidFill>
              <a:latin typeface="Times New Roman" panose="02020603050405020304" pitchFamily="18" charset="0"/>
              <a:cs typeface="Times New Roman" panose="02020603050405020304" pitchFamily="18" charset="0"/>
            </a:endParaRPr>
          </a:p>
        </p:txBody>
      </p:sp>
      <p:sp>
        <p:nvSpPr>
          <p:cNvPr id="2" name="TextBox 1">
            <a:extLst>
              <a:ext uri="{FF2B5EF4-FFF2-40B4-BE49-F238E27FC236}">
                <a16:creationId xmlns:a16="http://schemas.microsoft.com/office/drawing/2014/main" id="{15B1C66A-5A35-9FEC-B8BA-809E759E8C41}"/>
              </a:ext>
            </a:extLst>
          </p:cNvPr>
          <p:cNvSpPr txBox="1"/>
          <p:nvPr/>
        </p:nvSpPr>
        <p:spPr>
          <a:xfrm>
            <a:off x="1295402" y="2095995"/>
            <a:ext cx="9874043" cy="1537409"/>
          </a:xfrm>
          <a:prstGeom prst="rect">
            <a:avLst/>
          </a:prstGeom>
          <a:noFill/>
        </p:spPr>
        <p:txBody>
          <a:bodyPr wrap="square">
            <a:spAutoFit/>
          </a:bodyPr>
          <a:lstStyle/>
          <a:p>
            <a:pPr algn="l">
              <a:lnSpc>
                <a:spcPct val="150000"/>
              </a:lnSpc>
              <a:spcAft>
                <a:spcPts val="900"/>
              </a:spcAft>
              <a:buNone/>
            </a:pPr>
            <a:r>
              <a:rPr lang="vi-VN" sz="2000" i="0">
                <a:effectLst/>
                <a:latin typeface="Times New Roman" panose="02020603050405020304" pitchFamily="18" charset="0"/>
                <a:cs typeface="Times New Roman" panose="02020603050405020304" pitchFamily="18" charset="0"/>
              </a:rPr>
              <a:t>	Trong tương lai, hệ thống sẽ tích hợp thanh toán qua các app ngân hàng và tạo các bài thi đánh giá năng lực trực tuyến cho học viên.</a:t>
            </a:r>
          </a:p>
          <a:p>
            <a:pPr>
              <a:lnSpc>
                <a:spcPct val="150000"/>
              </a:lnSpc>
              <a:spcAft>
                <a:spcPts val="900"/>
              </a:spcAft>
            </a:pPr>
            <a:r>
              <a:rPr lang="vi-VN" sz="2000">
                <a:latin typeface="Times New Roman" panose="02020603050405020304" pitchFamily="18" charset="0"/>
                <a:cs typeface="Times New Roman" panose="02020603050405020304" pitchFamily="18" charset="0"/>
              </a:rPr>
              <a:t>	</a:t>
            </a:r>
            <a:r>
              <a:rPr lang="en-US" sz="2000">
                <a:latin typeface="Times New Roman" panose="02020603050405020304" pitchFamily="18" charset="0"/>
                <a:cs typeface="Times New Roman" panose="02020603050405020304" pitchFamily="18" charset="0"/>
              </a:rPr>
              <a:t>Gửi thông báo xác nhận đăng ký và lịch khai giảng tự động qua Email.</a:t>
            </a:r>
            <a:endParaRPr lang="vi-VN" sz="2000" i="0">
              <a:effectLs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26875739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EAB58076-369A-F593-1D8A-33702026B0D0}"/>
              </a:ext>
            </a:extLst>
          </p:cNvPr>
          <p:cNvSpPr>
            <a:spLocks noGrp="1"/>
          </p:cNvSpPr>
          <p:nvPr>
            <p:ph type="body" idx="1"/>
          </p:nvPr>
        </p:nvSpPr>
        <p:spPr>
          <a:xfrm>
            <a:off x="1012723" y="2762865"/>
            <a:ext cx="9892346" cy="2874916"/>
          </a:xfrm>
        </p:spPr>
        <p:txBody>
          <a:bodyPr>
            <a:normAutofit/>
          </a:bodyPr>
          <a:lstStyle/>
          <a:p>
            <a:pPr algn="ctr"/>
            <a:r>
              <a:rPr lang="vi-VN" sz="3200" b="1">
                <a:solidFill>
                  <a:srgbClr val="00B0F0"/>
                </a:solidFill>
              </a:rPr>
              <a:t>XIN CẢM ƠN!</a:t>
            </a:r>
          </a:p>
          <a:p>
            <a:pPr algn="ctr"/>
            <a:r>
              <a:rPr lang="vi-VN"/>
              <a:t>Quý thầy cô và các bạn đã chú ý lắng nghe phần trình bày</a:t>
            </a:r>
          </a:p>
          <a:p>
            <a:pPr algn="ctr"/>
            <a:endParaRPr lang="vi-VN"/>
          </a:p>
          <a:p>
            <a:pPr algn="ctr"/>
            <a:r>
              <a:rPr lang="vi-VN" b="1"/>
              <a:t>Rất mong nhận được sự góp ý từ Hội đồng!</a:t>
            </a:r>
          </a:p>
          <a:p>
            <a:pPr algn="ctr"/>
            <a:endParaRPr lang="vi-VN" b="1"/>
          </a:p>
          <a:p>
            <a:pPr algn="ctr"/>
            <a:r>
              <a:rPr lang="vi-VN"/>
              <a:t>Huỳnh Ngọc Minh Thư			MSSV: 110123184</a:t>
            </a:r>
          </a:p>
          <a:p>
            <a:endParaRPr lang="en-US"/>
          </a:p>
        </p:txBody>
      </p:sp>
      <p:pic>
        <p:nvPicPr>
          <p:cNvPr id="5" name="Picture 4" descr="A blue heart in a white circle&#10;&#10;AI-generated content may be incorrect.">
            <a:extLst>
              <a:ext uri="{FF2B5EF4-FFF2-40B4-BE49-F238E27FC236}">
                <a16:creationId xmlns:a16="http://schemas.microsoft.com/office/drawing/2014/main" id="{6BA52F9B-F3BD-CE3D-6E8F-446636111B7D}"/>
              </a:ext>
            </a:extLst>
          </p:cNvPr>
          <p:cNvPicPr>
            <a:picLocks noChangeAspect="1"/>
          </p:cNvPicPr>
          <p:nvPr/>
        </p:nvPicPr>
        <p:blipFill>
          <a:blip r:embed="rId2"/>
          <a:stretch>
            <a:fillRect/>
          </a:stretch>
        </p:blipFill>
        <p:spPr>
          <a:xfrm>
            <a:off x="5196789" y="1103564"/>
            <a:ext cx="1524213" cy="1524213"/>
          </a:xfrm>
          <a:prstGeom prst="rect">
            <a:avLst/>
          </a:prstGeom>
          <a:ln>
            <a:noFill/>
          </a:ln>
          <a:effectLst>
            <a:softEdge rad="112500"/>
          </a:effectLst>
        </p:spPr>
      </p:pic>
    </p:spTree>
    <p:extLst>
      <p:ext uri="{BB962C8B-B14F-4D97-AF65-F5344CB8AC3E}">
        <p14:creationId xmlns:p14="http://schemas.microsoft.com/office/powerpoint/2010/main" val="4199324289"/>
      </p:ext>
    </p:extLst>
  </p:cSld>
  <p:clrMapOvr>
    <a:masterClrMapping/>
  </p:clrMapOvr>
</p:sld>
</file>

<file path=ppt/theme/_rels/them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image" Target="../media/image1.jpeg"/></Relationships>
</file>

<file path=ppt/theme/theme1.xml><?xml version="1.0" encoding="utf-8"?>
<a:theme xmlns:a="http://schemas.openxmlformats.org/drawingml/2006/main" name="Organic">
  <a:themeElements>
    <a:clrScheme name="Organic">
      <a:dk1>
        <a:sysClr val="windowText" lastClr="000000"/>
      </a:dk1>
      <a:lt1>
        <a:sysClr val="window" lastClr="FFFFFF"/>
      </a:lt1>
      <a:dk2>
        <a:srgbClr val="212121"/>
      </a:dk2>
      <a:lt2>
        <a:srgbClr val="DADADA"/>
      </a:lt2>
      <a:accent1>
        <a:srgbClr val="83992A"/>
      </a:accent1>
      <a:accent2>
        <a:srgbClr val="3C9770"/>
      </a:accent2>
      <a:accent3>
        <a:srgbClr val="44709D"/>
      </a:accent3>
      <a:accent4>
        <a:srgbClr val="A23C33"/>
      </a:accent4>
      <a:accent5>
        <a:srgbClr val="D97828"/>
      </a:accent5>
      <a:accent6>
        <a:srgbClr val="DEB340"/>
      </a:accent6>
      <a:hlink>
        <a:srgbClr val="A8BF4D"/>
      </a:hlink>
      <a:folHlink>
        <a:srgbClr val="B4CA80"/>
      </a:folHlink>
    </a:clrScheme>
    <a:fontScheme name="Organic">
      <a:maj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panose="02020404030301010803"/>
        <a:ea typeface=""/>
        <a:cs typeface=""/>
        <a:font script="Jpan" typeface="ＭＳ Ｐ明朝"/>
        <a:font script="Hang" typeface="바탕"/>
        <a:font script="Hans" typeface="方正舒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rganic">
      <a:fillStyleLst>
        <a:solidFill>
          <a:schemeClr val="phClr"/>
        </a:solidFill>
        <a:gradFill rotWithShape="1">
          <a:gsLst>
            <a:gs pos="0">
              <a:schemeClr val="phClr">
                <a:tint val="60000"/>
                <a:lumMod val="110000"/>
              </a:schemeClr>
            </a:gs>
            <a:gs pos="100000">
              <a:schemeClr val="phClr">
                <a:tint val="82000"/>
              </a:schemeClr>
            </a:gs>
          </a:gsLst>
          <a:lin ang="5400000" scaled="0"/>
        </a:gradFill>
        <a:blipFill>
          <a:blip xmlns:r="http://schemas.openxmlformats.org/officeDocument/2006/relationships" r:embed="rId1">
            <a:duotone>
              <a:schemeClr val="phClr">
                <a:shade val="74000"/>
                <a:satMod val="130000"/>
                <a:lumMod val="90000"/>
              </a:schemeClr>
              <a:schemeClr val="phClr">
                <a:tint val="94000"/>
                <a:satMod val="120000"/>
                <a:lumMod val="104000"/>
              </a:schemeClr>
            </a:duotone>
          </a:blip>
          <a:tile tx="0" ty="0" sx="100000" sy="100000" flip="none" algn="tl"/>
        </a:blipFill>
      </a:fillStyleLst>
      <a:lnStyleLst>
        <a:ln w="9525"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38100" dist="25400" dir="5400000" rotWithShape="0">
              <a:srgbClr val="000000">
                <a:alpha val="60000"/>
              </a:srgbClr>
            </a:outerShdw>
          </a:effectLst>
        </a:effectStyle>
      </a:effectStyleLst>
      <a:bgFillStyleLst>
        <a:solidFill>
          <a:schemeClr val="phClr"/>
        </a:solidFill>
        <a:gradFill rotWithShape="1">
          <a:gsLst>
            <a:gs pos="0">
              <a:schemeClr val="phClr">
                <a:tint val="90000"/>
                <a:lumMod val="110000"/>
              </a:schemeClr>
            </a:gs>
            <a:gs pos="100000">
              <a:schemeClr val="phClr">
                <a:shade val="88000"/>
                <a:lumMod val="98000"/>
              </a:schemeClr>
            </a:gs>
          </a:gsLst>
          <a:lin ang="5400000" scaled="0"/>
        </a:gradFill>
        <a:blipFill>
          <a:blip xmlns:r="http://schemas.openxmlformats.org/officeDocument/2006/relationships" r:embed="rId2"/>
          <a:stretch/>
        </a:blipFill>
      </a:bgFillStyleLst>
    </a:fmtScheme>
  </a:themeElements>
  <a:objectDefaults/>
  <a:extraClrSchemeLst/>
  <a:extLst>
    <a:ext uri="{05A4C25C-085E-4340-85A3-A5531E510DB2}">
      <thm15:themeFamily xmlns:thm15="http://schemas.microsoft.com/office/thememl/2012/main" name="Organic" id="{28CDC826-8792-45C0-861B-85EB3ADEDA33}" vid="{7DAC20F1-423D-49E2-BD0B-50532748BAD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Organic</Template>
  <TotalTime>274</TotalTime>
  <Words>1728</Words>
  <Application>Microsoft Office PowerPoint</Application>
  <PresentationFormat>Widescreen</PresentationFormat>
  <Paragraphs>129</Paragraphs>
  <Slides>29</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29</vt:i4>
      </vt:variant>
    </vt:vector>
  </HeadingPairs>
  <TitlesOfParts>
    <vt:vector size="36" baseType="lpstr">
      <vt:lpstr>Arial</vt:lpstr>
      <vt:lpstr>Calibri</vt:lpstr>
      <vt:lpstr>Garamond</vt:lpstr>
      <vt:lpstr>Merriweather</vt:lpstr>
      <vt:lpstr>ti</vt:lpstr>
      <vt:lpstr>Times New Roman</vt:lpstr>
      <vt:lpstr>Organic</vt:lpstr>
      <vt:lpstr>Bài thuyết trình  Cơ Sở Ngành</vt:lpstr>
      <vt:lpstr>Đề tài: Xây dựng Website giới thiệu các khoá học của một Trung tâm Ngoại ngữ - Tin học </vt:lpstr>
      <vt:lpstr>PowerPoint Presentation</vt:lpstr>
      <vt:lpstr>CHƯƠNG 1: TỔNG QUAN ĐỀ TÀI</vt:lpstr>
      <vt:lpstr>GIỚI THIỆU BÀI TOÁN NGIÊN CỨU</vt:lpstr>
      <vt:lpstr>Ý NGHĨA CỦA ĐỀ TÀI </vt:lpstr>
      <vt:lpstr>CHƯƠNG 2: NGHIÊN CỨU LÝ THUYẾT</vt:lpstr>
      <vt:lpstr>TỔNG QUAN VỀ NGÔN NGỮ HTML5</vt:lpstr>
      <vt:lpstr>CẤU TRÚC CHUẨN CỦA MỘT TỆP HTML5</vt:lpstr>
      <vt:lpstr>NGÔN NGỮ CSS3 &amp; Bootstrap 5</vt:lpstr>
      <vt:lpstr>JAVASCRIPT:LINH HỒN WEBSITE</vt:lpstr>
      <vt:lpstr>XỬ LÝ SERVER &amp; DATABASE</vt:lpstr>
      <vt:lpstr>XỬ LÝ SERVER &amp; DATABASE</vt:lpstr>
      <vt:lpstr>CHƯƠNG 3: HIỆN THỰC HÓA NGHIÊN CỨU</vt:lpstr>
      <vt:lpstr>MÔ TẢ BÀI TOÁN NGHIỆP VỤ </vt:lpstr>
      <vt:lpstr>MỤC TIÊU</vt:lpstr>
      <vt:lpstr>ĐẶC TẢ BÀI TOÁN </vt:lpstr>
      <vt:lpstr>CHƯƠNG 4: KẾT QUẢ NGHIÊN CỨU</vt:lpstr>
      <vt:lpstr>PowerPoint Presentation</vt:lpstr>
      <vt:lpstr>DANH SÁCH KHÓA HỌC VÀ TÌM KIẾM </vt:lpstr>
      <vt:lpstr>ĐĂNG KÍ VÀ ĐĂNG NHẬP BẢO MẬT </vt:lpstr>
      <vt:lpstr>NHẬN YÊU CẦU TƯ VẤN ONLINE </vt:lpstr>
      <vt:lpstr>THEO DÕI KHÓA HỌC CÁ NHÂN </vt:lpstr>
      <vt:lpstr>QUẢN LÝ KHÓA HỌC VÀ NỘI DUNG </vt:lpstr>
      <vt:lpstr>HIỂN THỊ DA THIẾT BỊ  </vt:lpstr>
      <vt:lpstr>CHƯƠNG 5: KẾT LUẬN VÀ PHÁT TRIỂN</vt:lpstr>
      <vt:lpstr>KẾT QUẢ ĐẠT ĐƯỢC </vt:lpstr>
      <vt:lpstr>HƯỚNG PHÁT TRIỂN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minh thu</dc:creator>
  <cp:lastModifiedBy>minh thu</cp:lastModifiedBy>
  <cp:revision>5</cp:revision>
  <dcterms:created xsi:type="dcterms:W3CDTF">2026-01-04T03:19:55Z</dcterms:created>
  <dcterms:modified xsi:type="dcterms:W3CDTF">2026-01-13T14:23:36Z</dcterms:modified>
</cp:coreProperties>
</file>