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71" r:id="rId18"/>
    <p:sldId id="272" r:id="rId19"/>
    <p:sldId id="273" r:id="rId20"/>
    <p:sldId id="274" r:id="rId21"/>
    <p:sldId id="275" r:id="rId22"/>
    <p:sldId id="276" r:id="rId23"/>
    <p:sldId id="277" r:id="rId24"/>
    <p:sldId id="278" r:id="rId25"/>
    <p:sldId id="279"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892527-F7FD-0BCA-1137-57127BE227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5A39E4-AF5E-1CBB-9964-AE83C415C6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C89A1A-0A9D-4DB9-B436-864AC6BE2F7D}" type="datetime1">
              <a:rPr lang="vi-VN" smtClean="0"/>
              <a:t>04/01/2026</a:t>
            </a:fld>
            <a:endParaRPr lang="en-US"/>
          </a:p>
        </p:txBody>
      </p:sp>
      <p:sp>
        <p:nvSpPr>
          <p:cNvPr id="4" name="Footer Placeholder 3">
            <a:extLst>
              <a:ext uri="{FF2B5EF4-FFF2-40B4-BE49-F238E27FC236}">
                <a16:creationId xmlns:a16="http://schemas.microsoft.com/office/drawing/2014/main" id="{E2AD17E3-3512-6121-19EA-A1B66C1C29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D878FCC-BB63-FF7A-DB86-DEFC7A4147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049ADF-C462-4451-9A76-AB9B0CF16049}" type="slidenum">
              <a:rPr lang="en-US" smtClean="0"/>
              <a:t>‹#›</a:t>
            </a:fld>
            <a:endParaRPr lang="en-US"/>
          </a:p>
        </p:txBody>
      </p:sp>
    </p:spTree>
    <p:extLst>
      <p:ext uri="{BB962C8B-B14F-4D97-AF65-F5344CB8AC3E}">
        <p14:creationId xmlns:p14="http://schemas.microsoft.com/office/powerpoint/2010/main" val="3718597978"/>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A1469-E0F4-432A-9344-ADA138032A60}" type="datetime1">
              <a:rPr lang="vi-VN" smtClean="0"/>
              <a:t>04/01/2026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F91F3-B0E1-4A7F-A8AC-7B6326F5B750}" type="slidenum">
              <a:rPr lang="en-US" smtClean="0"/>
              <a:t>‹#›</a:t>
            </a:fld>
            <a:endParaRPr lang="en-US"/>
          </a:p>
        </p:txBody>
      </p:sp>
    </p:spTree>
    <p:extLst>
      <p:ext uri="{BB962C8B-B14F-4D97-AF65-F5344CB8AC3E}">
        <p14:creationId xmlns:p14="http://schemas.microsoft.com/office/powerpoint/2010/main" val="2886201295"/>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BA06F24-19FF-4D9D-9678-B215142BE2E2}" type="datetime1">
              <a:rPr lang="en-US" smtClean="0"/>
              <a:t>1/4/2026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a:pPr/>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0B8BD8-5673-467A-B323-BECBB8B90C4B}"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7799C9-84D9-46D2-A11E-BCF8A720529D}"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DF2EB-F590-4D1E-AEEA-9E9A4ACF88A7}"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EF1C3E-611E-44AE-B26F-94952EA8324D}" type="datetime1">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84065D-F351-4B03-BD91-D8A6B8D4B362}"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694BB5-0F6B-47DC-99AA-68D8A5C2D8BB}" type="datetime1">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F76D51-BFB9-4B8C-8844-4A0F4BB486B9}" type="datetime1">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6CE10-DC27-43FA-9CDE-3539A0993451}" type="datetime1">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E3F0F9-338C-4F75-8FAF-6D4441BBE965}" type="datetime1">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283AFE-3120-4ACC-B5D0-58B120E1245C}" type="datetime1">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E236D4-3DB5-46F0-908F-7E4BCBD50D8D}" type="datetime1">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6095E1-46FE-44C2-8265-F66122DF9363}"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A9D0-DE3E-4B0B-8533-BC101B5CF045}"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BCD013-64F4-4AA8-A48C-DCF174779762}"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F069E5-DABD-439A-9F1C-BF56B98FE296}"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C6D62A-041D-4FEA-B418-A5EAD317685C}"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F1FA1-7372-448A-879E-29B9BEA95777}"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7CAAFB-199F-49A9-8CA9-0CE773789EED}" type="datetime1">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B737A8-911B-4F81-96C6-00C8EF96AEF2}" type="datetime1">
              <a:rPr lang="en-US" smtClean="0"/>
              <a:t>1/4/2026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DCFF-2745-2B1B-DAF4-D78FA4279551}"/>
              </a:ext>
            </a:extLst>
          </p:cNvPr>
          <p:cNvSpPr>
            <a:spLocks noGrp="1"/>
          </p:cNvSpPr>
          <p:nvPr>
            <p:ph type="ctrTitle"/>
          </p:nvPr>
        </p:nvSpPr>
        <p:spPr>
          <a:xfrm>
            <a:off x="2487561" y="1769806"/>
            <a:ext cx="6956460" cy="1659194"/>
          </a:xfrm>
        </p:spPr>
        <p:txBody>
          <a:bodyPr/>
          <a:lstStyle/>
          <a:p>
            <a:r>
              <a:rPr lang="vi-VN" sz="4400">
                <a:latin typeface="+mn-lt"/>
              </a:rPr>
              <a:t>Bài thuyết trình </a:t>
            </a:r>
            <a:br>
              <a:rPr lang="vi-VN" sz="4400">
                <a:latin typeface="+mn-lt"/>
              </a:rPr>
            </a:br>
            <a:r>
              <a:rPr lang="vi-VN" sz="4400">
                <a:latin typeface="+mn-lt"/>
              </a:rPr>
              <a:t>Cơ Sở Ngành</a:t>
            </a:r>
            <a:endParaRPr lang="en-US" sz="4400">
              <a:latin typeface="+mn-lt"/>
            </a:endParaRPr>
          </a:p>
        </p:txBody>
      </p:sp>
    </p:spTree>
    <p:extLst>
      <p:ext uri="{BB962C8B-B14F-4D97-AF65-F5344CB8AC3E}">
        <p14:creationId xmlns:p14="http://schemas.microsoft.com/office/powerpoint/2010/main" val="187064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4902-EB3C-C30D-5D85-A76D9A353B24}"/>
              </a:ext>
            </a:extLst>
          </p:cNvPr>
          <p:cNvSpPr>
            <a:spLocks noGrp="1"/>
          </p:cNvSpPr>
          <p:nvPr>
            <p:ph type="title"/>
          </p:nvPr>
        </p:nvSpPr>
        <p:spPr/>
        <p:txBody>
          <a:bodyPr>
            <a:normAutofit fontScale="90000"/>
          </a:bodyPr>
          <a:lstStyle/>
          <a:p>
            <a:pPr algn="l"/>
            <a:r>
              <a:rPr lang="vi-VN" sz="4000">
                <a:latin typeface="+mn-lt"/>
              </a:rPr>
              <a:t>Đề tài: Xây dựng Website giới thiệu các khoá học của </a:t>
            </a:r>
            <a:r>
              <a:rPr lang="vi-VN" sz="4000">
                <a:latin typeface="ti"/>
                <a:cs typeface="Times New Roman" panose="02020603050405020304" pitchFamily="18" charset="0"/>
              </a:rPr>
              <a:t>một Trung tâm Ngoại ngữ - Tin học</a:t>
            </a:r>
            <a:br>
              <a:rPr lang="en-US"/>
            </a:br>
            <a:endParaRPr lang="en-US" sz="4000"/>
          </a:p>
        </p:txBody>
      </p:sp>
      <p:sp>
        <p:nvSpPr>
          <p:cNvPr id="3" name="Content Placeholder 2">
            <a:extLst>
              <a:ext uri="{FF2B5EF4-FFF2-40B4-BE49-F238E27FC236}">
                <a16:creationId xmlns:a16="http://schemas.microsoft.com/office/drawing/2014/main" id="{A589A549-7D0E-BF63-AB5E-9750B4EDD07C}"/>
              </a:ext>
            </a:extLst>
          </p:cNvPr>
          <p:cNvSpPr>
            <a:spLocks noGrp="1"/>
          </p:cNvSpPr>
          <p:nvPr>
            <p:ph idx="1"/>
          </p:nvPr>
        </p:nvSpPr>
        <p:spPr/>
        <p:txBody>
          <a:bodyPr/>
          <a:lstStyle/>
          <a:p>
            <a:pPr marL="0" indent="0" algn="just">
              <a:buNone/>
            </a:pPr>
            <a:r>
              <a:rPr lang="vi-VN" b="1">
                <a:latin typeface="Times New Roman" panose="02020603050405020304" pitchFamily="18" charset="0"/>
                <a:cs typeface="Times New Roman" panose="02020603050405020304" pitchFamily="18" charset="0"/>
              </a:rPr>
              <a:t>Giảng viên hướng dẫn </a:t>
            </a:r>
            <a:r>
              <a:rPr lang="vi-VN">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Sinh viên thực hiện </a:t>
            </a:r>
          </a:p>
          <a:p>
            <a:pPr marL="0" indent="0" algn="just">
              <a:buNone/>
            </a:pPr>
            <a:r>
              <a:rPr lang="vi-VN">
                <a:latin typeface="Times New Roman" panose="02020603050405020304" pitchFamily="18" charset="0"/>
                <a:cs typeface="Times New Roman" panose="02020603050405020304" pitchFamily="18" charset="0"/>
              </a:rPr>
              <a:t>Họ Tên :Võ Thành C							Họ Tên:Huỳnh Ngọc Minh Thư</a:t>
            </a:r>
          </a:p>
          <a:p>
            <a:pPr marL="0" indent="0" algn="just">
              <a:buNone/>
            </a:pPr>
            <a:r>
              <a:rPr lang="vi-VN">
                <a:latin typeface="Times New Roman" panose="02020603050405020304" pitchFamily="18" charset="0"/>
                <a:cs typeface="Times New Roman" panose="02020603050405020304" pitchFamily="18" charset="0"/>
              </a:rPr>
              <a:t>												MSSV:110123184</a:t>
            </a:r>
          </a:p>
          <a:p>
            <a:pPr marL="0" indent="0" algn="just">
              <a:buNone/>
            </a:pPr>
            <a:r>
              <a:rPr lang="vi-VN">
                <a:latin typeface="Times New Roman" panose="02020603050405020304" pitchFamily="18" charset="0"/>
                <a:cs typeface="Times New Roman" panose="02020603050405020304" pitchFamily="18" charset="0"/>
              </a:rPr>
              <a:t>												Lớp: DA23TTD</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305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98AABC-6177-A395-2B4C-028C53F27C87}"/>
              </a:ext>
            </a:extLst>
          </p:cNvPr>
          <p:cNvSpPr txBox="1"/>
          <p:nvPr/>
        </p:nvSpPr>
        <p:spPr>
          <a:xfrm>
            <a:off x="2015613" y="1096134"/>
            <a:ext cx="8475407" cy="4247317"/>
          </a:xfrm>
          <a:prstGeom prst="rect">
            <a:avLst/>
          </a:prstGeom>
          <a:noFill/>
        </p:spPr>
        <p:txBody>
          <a:bodyPr wrap="square" numCol="2" rtlCol="0" anchor="ctr">
            <a:spAutoFit/>
          </a:bodyPr>
          <a:lstStyle/>
          <a:p>
            <a:r>
              <a:rPr lang="vi-VN" sz="2000" b="1" cap="all"/>
              <a:t>Nội dung báo cáo</a:t>
            </a:r>
          </a:p>
          <a:p>
            <a:pPr>
              <a:lnSpc>
                <a:spcPct val="250000"/>
              </a:lnSpc>
            </a:pPr>
            <a:r>
              <a:rPr lang="vi-VN" sz="2000"/>
              <a:t> Chương 1: Tổng quan đề tài</a:t>
            </a:r>
          </a:p>
          <a:p>
            <a:pPr>
              <a:lnSpc>
                <a:spcPct val="250000"/>
              </a:lnSpc>
            </a:pPr>
            <a:r>
              <a:rPr lang="vi-VN" sz="2000"/>
              <a:t> Chương 2: Nghiên cứu lý thuyết</a:t>
            </a:r>
          </a:p>
          <a:p>
            <a:pPr>
              <a:lnSpc>
                <a:spcPct val="250000"/>
              </a:lnSpc>
            </a:pPr>
            <a:r>
              <a:rPr lang="vi-VN" sz="2000"/>
              <a:t> Chương 3: Hiện thực hóa nghiên cứu</a:t>
            </a:r>
          </a:p>
          <a:p>
            <a:pPr>
              <a:lnSpc>
                <a:spcPct val="250000"/>
              </a:lnSpc>
            </a:pPr>
            <a:r>
              <a:rPr lang="vi-VN" sz="2000"/>
              <a:t> Chương 4: Kết quả nghiên cứu</a:t>
            </a:r>
          </a:p>
          <a:p>
            <a:pPr>
              <a:lnSpc>
                <a:spcPct val="250000"/>
              </a:lnSpc>
            </a:pPr>
            <a:r>
              <a:rPr lang="vi-VN" sz="2000"/>
              <a:t> Chương 5: Kết luận &amp; Phát triển</a:t>
            </a:r>
          </a:p>
        </p:txBody>
      </p:sp>
    </p:spTree>
    <p:extLst>
      <p:ext uri="{BB962C8B-B14F-4D97-AF65-F5344CB8AC3E}">
        <p14:creationId xmlns:p14="http://schemas.microsoft.com/office/powerpoint/2010/main" val="1947073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3A2366-342F-7607-7059-4686A73A2F4B}"/>
              </a:ext>
            </a:extLst>
          </p:cNvPr>
          <p:cNvSpPr>
            <a:spLocks noGrp="1"/>
          </p:cNvSpPr>
          <p:nvPr>
            <p:ph type="title"/>
          </p:nvPr>
        </p:nvSpPr>
        <p:spPr/>
        <p:txBody>
          <a:bodyPr>
            <a:normAutofit/>
          </a:bodyPr>
          <a:lstStyle/>
          <a:p>
            <a:r>
              <a:rPr lang="vi-VN" sz="3600" b="1">
                <a:latin typeface="Times New Roman" panose="02020603050405020304" pitchFamily="18" charset="0"/>
                <a:cs typeface="Times New Roman" panose="02020603050405020304" pitchFamily="18" charset="0"/>
              </a:rPr>
              <a:t>CHƯƠNG 1: TỔNG QUAN ĐỀ TÀI</a:t>
            </a:r>
            <a:endParaRPr lang="en-US" sz="3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999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9A8028E-4C59-0DC7-5309-858B8E78E039}"/>
              </a:ext>
            </a:extLst>
          </p:cNvPr>
          <p:cNvSpPr>
            <a:spLocks noGrp="1"/>
          </p:cNvSpPr>
          <p:nvPr>
            <p:ph type="title"/>
          </p:nvPr>
        </p:nvSpPr>
        <p:spPr>
          <a:xfrm>
            <a:off x="1295402" y="845575"/>
            <a:ext cx="9609668" cy="860400"/>
          </a:xfrm>
        </p:spPr>
        <p:txBody>
          <a:bodyPr/>
          <a:lstStyle/>
          <a:p>
            <a:r>
              <a:rPr lang="vi-VN"/>
              <a:t>GIỚI THIỆU BÀI TOÁN NGIÊN CỨU</a:t>
            </a:r>
            <a:endParaRPr lang="en-US"/>
          </a:p>
        </p:txBody>
      </p:sp>
      <p:sp>
        <p:nvSpPr>
          <p:cNvPr id="12" name="TextBox 11">
            <a:extLst>
              <a:ext uri="{FF2B5EF4-FFF2-40B4-BE49-F238E27FC236}">
                <a16:creationId xmlns:a16="http://schemas.microsoft.com/office/drawing/2014/main" id="{0CF3EDF6-1FCF-6343-2B7F-5D68C06AD51A}"/>
              </a:ext>
            </a:extLst>
          </p:cNvPr>
          <p:cNvSpPr txBox="1"/>
          <p:nvPr/>
        </p:nvSpPr>
        <p:spPr>
          <a:xfrm>
            <a:off x="1295402" y="2123768"/>
            <a:ext cx="9402096" cy="3089564"/>
          </a:xfrm>
          <a:prstGeom prst="rect">
            <a:avLst/>
          </a:prstGeom>
          <a:noFill/>
        </p:spPr>
        <p:txBody>
          <a:bodyPr wrap="square" rtlCol="0">
            <a:spAutoFit/>
          </a:bodyPr>
          <a:lstStyle/>
          <a:p>
            <a:pPr>
              <a:lnSpc>
                <a:spcPct val="150000"/>
              </a:lnSpc>
            </a:pPr>
            <a:r>
              <a:rPr lang="vi-VN" sz="2000" b="1"/>
              <a:t>Vấn đề hiện tại </a:t>
            </a:r>
          </a:p>
          <a:p>
            <a:pPr>
              <a:lnSpc>
                <a:spcPct val="150000"/>
              </a:lnSpc>
            </a:pPr>
            <a:r>
              <a:rPr lang="vi-VN" sz="2000"/>
              <a:t>	</a:t>
            </a:r>
            <a:r>
              <a:rPr lang="en-US">
                <a:latin typeface="Times New Roman" panose="02020603050405020304" pitchFamily="18" charset="0"/>
                <a:cs typeface="Times New Roman" panose="02020603050405020304" pitchFamily="18" charset="0"/>
              </a:rPr>
              <a:t>Việc quảng bá và quản lý ghi danh truyền thống gặp hạn chế về phạm vi tiếp cận và hiệu suất xử lý dữ liệu. Thiếu hụt kênh thông tin trực tuyến gây chậm trễ và sai sót.</a:t>
            </a:r>
            <a:endParaRPr lang="vi-VN">
              <a:latin typeface="Times New Roman" panose="02020603050405020304" pitchFamily="18" charset="0"/>
              <a:cs typeface="Times New Roman" panose="02020603050405020304" pitchFamily="18" charset="0"/>
            </a:endParaRPr>
          </a:p>
          <a:p>
            <a:pPr>
              <a:lnSpc>
                <a:spcPct val="150000"/>
              </a:lnSpc>
            </a:pPr>
            <a:endParaRPr lang="vi-VN" b="1">
              <a:latin typeface="Times New Roman" panose="02020603050405020304" pitchFamily="18" charset="0"/>
              <a:cs typeface="Times New Roman" panose="02020603050405020304" pitchFamily="18" charset="0"/>
            </a:endParaRPr>
          </a:p>
          <a:p>
            <a:pPr>
              <a:lnSpc>
                <a:spcPct val="150000"/>
              </a:lnSpc>
            </a:pPr>
            <a:r>
              <a:rPr lang="vi-VN" sz="2000" b="1"/>
              <a:t>Hướng giải quyết </a:t>
            </a:r>
          </a:p>
          <a:p>
            <a:pPr>
              <a:lnSpc>
                <a:spcPct val="150000"/>
              </a:lnSpc>
            </a:pPr>
            <a:r>
              <a:rPr lang="vi-VN"/>
              <a:t>	</a:t>
            </a:r>
            <a:r>
              <a:rPr lang="en-US">
                <a:latin typeface="Times New Roman" panose="02020603050405020304" pitchFamily="18" charset="0"/>
                <a:cs typeface="Times New Roman" panose="02020603050405020304" pitchFamily="18" charset="0"/>
              </a:rPr>
              <a:t>Số hóa kênh quảng bá và tự động hóa quy trình tiếp nhận thông tin thông qua nền tảng website chuyên dụng tích hợp quản lý ghi danh.</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698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A6397-F26F-49E0-45F9-D9374F6664C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307451D-05FA-2982-D29B-05CF0750E031}"/>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Ý NGHĨA CỦA ĐỀ TÀI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A9F6901-9924-2473-2AF1-9FE535972327}"/>
              </a:ext>
            </a:extLst>
          </p:cNvPr>
          <p:cNvSpPr txBox="1"/>
          <p:nvPr/>
        </p:nvSpPr>
        <p:spPr>
          <a:xfrm>
            <a:off x="1295402" y="2123768"/>
            <a:ext cx="9609668" cy="2120068"/>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Về phía trung tâm:</a:t>
            </a:r>
            <a:r>
              <a:rPr lang="en-US">
                <a:latin typeface="Times New Roman" panose="02020603050405020304" pitchFamily="18" charset="0"/>
                <a:cs typeface="Times New Roman" panose="02020603050405020304" pitchFamily="18" charset="0"/>
              </a:rPr>
              <a:t> Sở hữu công cụ quảng bá hiện đại, chuyên nghiệp hóa quy trình tuyển sinh và theo dõi sát sao nhu cầu học viên.</a:t>
            </a:r>
            <a:endParaRPr lang="vi-VN">
              <a:latin typeface="Times New Roman" panose="02020603050405020304" pitchFamily="18" charset="0"/>
              <a:cs typeface="Times New Roman" panose="02020603050405020304" pitchFamily="18" charset="0"/>
            </a:endParaRPr>
          </a:p>
          <a:p>
            <a:pPr>
              <a:lnSpc>
                <a:spcPct val="150000"/>
              </a:lnSpc>
            </a:pPr>
            <a:endParaRPr lang="vi-VN">
              <a:latin typeface="Times New Roman" panose="02020603050405020304" pitchFamily="18" charset="0"/>
              <a:cs typeface="Times New Roman" panose="02020603050405020304" pitchFamily="18" charset="0"/>
            </a:endParaRPr>
          </a:p>
          <a:p>
            <a:pPr>
              <a:lnSpc>
                <a:spcPct val="150000"/>
              </a:lnSpc>
            </a:pPr>
            <a:r>
              <a:rPr lang="en-US" b="1">
                <a:latin typeface="Times New Roman" panose="02020603050405020304" pitchFamily="18" charset="0"/>
                <a:cs typeface="Times New Roman" panose="02020603050405020304" pitchFamily="18" charset="0"/>
              </a:rPr>
              <a:t>Về phía sinh viên:</a:t>
            </a:r>
            <a:r>
              <a:rPr lang="en-US">
                <a:latin typeface="Times New Roman" panose="02020603050405020304" pitchFamily="18" charset="0"/>
                <a:cs typeface="Times New Roman" panose="02020603050405020304" pitchFamily="18" charset="0"/>
              </a:rPr>
              <a:t> Vận dụng kiến thức HTML5, CSS3, JS, PHP, MySQL vào thực tiễn, rèn luyện kỹ năng phân tích hệ thống và phát triển phần mềm.</a:t>
            </a:r>
          </a:p>
        </p:txBody>
      </p:sp>
    </p:spTree>
    <p:extLst>
      <p:ext uri="{BB962C8B-B14F-4D97-AF65-F5344CB8AC3E}">
        <p14:creationId xmlns:p14="http://schemas.microsoft.com/office/powerpoint/2010/main" val="277859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606EF-83AC-6D57-037C-E02090E2D7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6D0EFD-9E33-D514-1B5F-D6A7AE363512}"/>
              </a:ext>
            </a:extLst>
          </p:cNvPr>
          <p:cNvSpPr>
            <a:spLocks noGrp="1"/>
          </p:cNvSpPr>
          <p:nvPr>
            <p:ph type="title"/>
          </p:nvPr>
        </p:nvSpPr>
        <p:spPr/>
        <p:txBody>
          <a:bodyPr>
            <a:noAutofit/>
          </a:bodyPr>
          <a:lstStyle/>
          <a:p>
            <a:r>
              <a:rPr lang="vi-VN" sz="3600" b="1">
                <a:latin typeface="Times New Roman" panose="02020603050405020304" pitchFamily="18" charset="0"/>
                <a:cs typeface="Times New Roman" panose="02020603050405020304" pitchFamily="18" charset="0"/>
              </a:rPr>
              <a:t>CHƯƠNG 2: NGHIÊN CỨU LÝ THUYẾT</a:t>
            </a:r>
            <a:endParaRPr lang="en-US" sz="36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4263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3C35-80C8-8428-35CC-8B7EDF3275F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381447E-EC9F-D27F-2882-33BE7F1C27EF}"/>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TỔNG QUAN VỀ NGÔN NGỮ HTML5</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E750AE2-30D9-847D-E0F3-8B075AC95B24}"/>
              </a:ext>
            </a:extLst>
          </p:cNvPr>
          <p:cNvSpPr txBox="1"/>
          <p:nvPr/>
        </p:nvSpPr>
        <p:spPr>
          <a:xfrm>
            <a:off x="1295402" y="2123768"/>
            <a:ext cx="9609668" cy="2492990"/>
          </a:xfrm>
          <a:prstGeom prst="rect">
            <a:avLst/>
          </a:prstGeom>
          <a:noFill/>
        </p:spPr>
        <p:txBody>
          <a:bodyPr wrap="square" rtlCol="0">
            <a:spAutoFit/>
          </a:bodyPr>
          <a:lstStyle/>
          <a:p>
            <a:pPr>
              <a:lnSpc>
                <a:spcPct val="150000"/>
              </a:lnSpc>
            </a:pPr>
            <a:r>
              <a:rPr lang="en-US" b="1">
                <a:latin typeface="Times New Roman" panose="02020603050405020304" pitchFamily="18" charset="0"/>
                <a:cs typeface="Times New Roman" panose="02020603050405020304" pitchFamily="18" charset="0"/>
              </a:rPr>
              <a:t>HTML (HyperText Markup Language)</a:t>
            </a:r>
            <a:r>
              <a:rPr lang="en-US">
                <a:latin typeface="Times New Roman" panose="02020603050405020304" pitchFamily="18" charset="0"/>
                <a:cs typeface="Times New Roman" panose="02020603050405020304" pitchFamily="18" charset="0"/>
              </a:rPr>
              <a:t> là ngôn ngữ đánh dấu tiêu chuẩn để tạo cấu trúc trang web. Nó định nghĩa cách thức trình bày nội dung qua hệ thống các thẻ (tags).</a:t>
            </a:r>
            <a:endParaRPr lang="vi-VN">
              <a:latin typeface="Times New Roman" panose="02020603050405020304" pitchFamily="18" charset="0"/>
              <a:cs typeface="Times New Roman" panose="02020603050405020304" pitchFamily="18" charset="0"/>
            </a:endParaRPr>
          </a:p>
          <a:p>
            <a:pPr>
              <a:lnSpc>
                <a:spcPct val="150000"/>
              </a:lnSpc>
            </a:pPr>
            <a:endParaRPr lang="vi-VN">
              <a:latin typeface="Times New Roman" panose="02020603050405020304" pitchFamily="18" charset="0"/>
              <a:cs typeface="Times New Roman" panose="02020603050405020304" pitchFamily="18" charset="0"/>
            </a:endParaRPr>
          </a:p>
          <a:p>
            <a:pPr>
              <a:lnSpc>
                <a:spcPct val="150000"/>
              </a:lnSpc>
            </a:pPr>
            <a:r>
              <a:rPr lang="en-US" sz="2000" b="1">
                <a:latin typeface="Times New Roman" panose="02020603050405020304" pitchFamily="18" charset="0"/>
                <a:cs typeface="Times New Roman" panose="02020603050405020304" pitchFamily="18" charset="0"/>
              </a:rPr>
              <a:t>Thẻ HTML sử dụng trong đề tài:</a:t>
            </a:r>
          </a:p>
          <a:p>
            <a:pPr>
              <a:lnSpc>
                <a:spcPct val="150000"/>
              </a:lnSpc>
            </a:pPr>
            <a:r>
              <a:rPr lang="en-US">
                <a:latin typeface="Times New Roman" panose="02020603050405020304" pitchFamily="18" charset="0"/>
                <a:cs typeface="Times New Roman" panose="02020603050405020304" pitchFamily="18" charset="0"/>
              </a:rPr>
              <a:t>&lt;header&gt;, &lt;nav&gt;, &lt;main&gt;, &lt;section&gt;, &lt;footer&gt;, &lt;form&gt;, &lt;input&gt;, &lt;button&gt;.</a:t>
            </a: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118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D3AE-87AA-58B0-2871-89E22C32EE6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728BBF3-684B-9F9A-0604-770C3926AACC}"/>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CẤU TRÚC CHUẨN CỦA MỘT TỆP HTML5</a:t>
            </a:r>
            <a:endParaRPr lang="en-US">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DB018EC-1442-DAFA-33A0-62F68F7CAFB9}"/>
              </a:ext>
            </a:extLst>
          </p:cNvPr>
          <p:cNvSpPr txBox="1"/>
          <p:nvPr/>
        </p:nvSpPr>
        <p:spPr>
          <a:xfrm>
            <a:off x="1393725" y="1843950"/>
            <a:ext cx="8062452" cy="3170099"/>
          </a:xfrm>
          <a:prstGeom prst="rect">
            <a:avLst/>
          </a:prstGeom>
          <a:solidFill>
            <a:schemeClr val="tx1"/>
          </a:solidFill>
        </p:spPr>
        <p:txBody>
          <a:bodyPr wrap="square">
            <a:spAutoFit/>
          </a:bodyPr>
          <a:lstStyle/>
          <a:p>
            <a:r>
              <a:rPr lang="en-US" sz="2000" b="0" i="0">
                <a:solidFill>
                  <a:schemeClr val="bg1"/>
                </a:solidFill>
                <a:effectLst/>
                <a:latin typeface="Times New Roman" panose="02020603050405020304" pitchFamily="18" charset="0"/>
                <a:cs typeface="Times New Roman" panose="02020603050405020304" pitchFamily="18" charset="0"/>
              </a:rPr>
              <a:t>&lt;!DOCTYPE html&gt;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&lt;html lang="vi"&gt;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&lt;head&gt;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&lt;meta charset="UTF-8"&gt;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&lt;title&gt;Tiêu đề trang&lt;/title&gt;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&lt;/head&gt;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&lt;body&gt;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 Nội dung hiển thị ở đây --&gt;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  &lt;/body&gt;</a:t>
            </a:r>
            <a:br>
              <a:rPr lang="en-US" sz="2000">
                <a:solidFill>
                  <a:schemeClr val="bg1"/>
                </a:solidFill>
                <a:latin typeface="Times New Roman" panose="02020603050405020304" pitchFamily="18" charset="0"/>
                <a:cs typeface="Times New Roman" panose="02020603050405020304" pitchFamily="18" charset="0"/>
              </a:rPr>
            </a:br>
            <a:r>
              <a:rPr lang="en-US" sz="2000" b="0" i="0">
                <a:solidFill>
                  <a:schemeClr val="bg1"/>
                </a:solidFill>
                <a:effectLst/>
                <a:latin typeface="Times New Roman" panose="02020603050405020304" pitchFamily="18" charset="0"/>
                <a:cs typeface="Times New Roman" panose="02020603050405020304" pitchFamily="18" charset="0"/>
              </a:rPr>
              <a:t>&lt;/html&gt;</a:t>
            </a:r>
            <a:endParaRPr lang="en-US" sz="200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70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5357B-6E4A-4269-B476-C1180295117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A93A425-D2A4-A068-F8E6-949B08BD1701}"/>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NGÔN NGỮ CSS3 &amp; RESPONSIVE</a:t>
            </a: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50FFFE4-2180-8E25-9C3A-C2CF4B3C7AA5}"/>
              </a:ext>
            </a:extLst>
          </p:cNvPr>
          <p:cNvSpPr txBox="1"/>
          <p:nvPr/>
        </p:nvSpPr>
        <p:spPr>
          <a:xfrm>
            <a:off x="1406013" y="2084440"/>
            <a:ext cx="4689987" cy="2281650"/>
          </a:xfrm>
          <a:prstGeom prst="rect">
            <a:avLst/>
          </a:prstGeom>
          <a:noFill/>
        </p:spPr>
        <p:txBody>
          <a:bodyPr wrap="square">
            <a:spAutoFit/>
          </a:bodyPr>
          <a:lstStyle/>
          <a:p>
            <a:pPr algn="l">
              <a:lnSpc>
                <a:spcPct val="150000"/>
              </a:lnSpc>
              <a:spcAft>
                <a:spcPts val="900"/>
              </a:spcAft>
              <a:buNone/>
            </a:pPr>
            <a:br>
              <a:rPr lang="en-US" b="1" i="0">
                <a:solidFill>
                  <a:srgbClr val="005088"/>
                </a:solidFill>
                <a:effectLst/>
                <a:latin typeface="Times New Roman" panose="02020603050405020304" pitchFamily="18" charset="0"/>
                <a:cs typeface="Times New Roman" panose="02020603050405020304" pitchFamily="18" charset="0"/>
              </a:rPr>
            </a:br>
            <a:r>
              <a:rPr lang="en-US" sz="2000" b="1" i="0">
                <a:solidFill>
                  <a:srgbClr val="005088"/>
                </a:solidFill>
                <a:effectLst/>
                <a:latin typeface="Times New Roman" panose="02020603050405020304" pitchFamily="18" charset="0"/>
                <a:cs typeface="Times New Roman" panose="02020603050405020304" pitchFamily="18" charset="0"/>
              </a:rPr>
              <a:t>Chức năng</a:t>
            </a:r>
          </a:p>
          <a:p>
            <a:pPr algn="l">
              <a:lnSpc>
                <a:spcPct val="150000"/>
              </a:lnSpc>
              <a:buNone/>
            </a:pPr>
            <a:r>
              <a:rPr lang="en-US" b="0" i="0">
                <a:solidFill>
                  <a:srgbClr val="334155"/>
                </a:solidFill>
                <a:effectLst/>
                <a:latin typeface="Times New Roman" panose="02020603050405020304" pitchFamily="18" charset="0"/>
                <a:cs typeface="Times New Roman" panose="02020603050405020304" pitchFamily="18" charset="0"/>
              </a:rPr>
              <a:t>Kiểm soát diện mạo website: màu sắc, phông chữ, khoảng cách. Quản lý bố cục qua Flexbox và Grid.</a:t>
            </a:r>
          </a:p>
        </p:txBody>
      </p:sp>
      <p:sp>
        <p:nvSpPr>
          <p:cNvPr id="5" name="TextBox 4">
            <a:extLst>
              <a:ext uri="{FF2B5EF4-FFF2-40B4-BE49-F238E27FC236}">
                <a16:creationId xmlns:a16="http://schemas.microsoft.com/office/drawing/2014/main" id="{1AF91532-77DC-2960-EF58-E20ACF72C578}"/>
              </a:ext>
            </a:extLst>
          </p:cNvPr>
          <p:cNvSpPr txBox="1"/>
          <p:nvPr/>
        </p:nvSpPr>
        <p:spPr>
          <a:xfrm>
            <a:off x="6354834" y="2084440"/>
            <a:ext cx="4689986" cy="2281650"/>
          </a:xfrm>
          <a:prstGeom prst="rect">
            <a:avLst/>
          </a:prstGeom>
          <a:noFill/>
        </p:spPr>
        <p:txBody>
          <a:bodyPr wrap="square">
            <a:spAutoFit/>
          </a:bodyPr>
          <a:lstStyle/>
          <a:p>
            <a:pPr algn="l">
              <a:lnSpc>
                <a:spcPct val="150000"/>
              </a:lnSpc>
              <a:spcAft>
                <a:spcPts val="900"/>
              </a:spcAft>
              <a:buNone/>
            </a:pPr>
            <a:br>
              <a:rPr lang="vi-VN" b="1" i="0">
                <a:solidFill>
                  <a:srgbClr val="005088"/>
                </a:solidFill>
                <a:effectLst/>
                <a:latin typeface="Merriweather" panose="00000500000000000000" pitchFamily="2" charset="0"/>
              </a:rPr>
            </a:br>
            <a:r>
              <a:rPr lang="vi-VN" sz="2000" b="1" i="0">
                <a:solidFill>
                  <a:srgbClr val="005088"/>
                </a:solidFill>
                <a:effectLst/>
                <a:latin typeface="Times New Roman" panose="02020603050405020304" pitchFamily="18" charset="0"/>
                <a:cs typeface="Times New Roman" panose="02020603050405020304" pitchFamily="18" charset="0"/>
              </a:rPr>
              <a:t>Tính đáp ứng</a:t>
            </a:r>
          </a:p>
          <a:p>
            <a:pPr algn="l">
              <a:lnSpc>
                <a:spcPct val="150000"/>
              </a:lnSpc>
              <a:buNone/>
            </a:pPr>
            <a:r>
              <a:rPr lang="vi-VN" b="0" i="0">
                <a:solidFill>
                  <a:srgbClr val="334155"/>
                </a:solidFill>
                <a:effectLst/>
                <a:latin typeface="Times New Roman" panose="02020603050405020304" pitchFamily="18" charset="0"/>
                <a:cs typeface="Times New Roman" panose="02020603050405020304" pitchFamily="18" charset="0"/>
              </a:rPr>
              <a:t>Phối hợp với Bootstrap 5.3 để tự động thay đổi giao diện linh hoạt theo kích thước màn hình (Desktop/Mobile).</a:t>
            </a:r>
          </a:p>
        </p:txBody>
      </p:sp>
    </p:spTree>
    <p:extLst>
      <p:ext uri="{BB962C8B-B14F-4D97-AF65-F5344CB8AC3E}">
        <p14:creationId xmlns:p14="http://schemas.microsoft.com/office/powerpoint/2010/main" val="2788102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48F5E-B08A-6D68-966E-AC4C609A3A3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06E8B14-BCB0-6264-DFA8-1309E051C260}"/>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JAVASCRIPT:LINH HỒN WEBSITE</a:t>
            </a: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06ED27-4B2F-5742-EEBE-BB6F35DA61C6}"/>
              </a:ext>
            </a:extLst>
          </p:cNvPr>
          <p:cNvSpPr txBox="1"/>
          <p:nvPr/>
        </p:nvSpPr>
        <p:spPr>
          <a:xfrm>
            <a:off x="1371600" y="2034540"/>
            <a:ext cx="7785735" cy="2647135"/>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JavaScript đóng vai trò điều khiển hành vi trang web:</a:t>
            </a:r>
          </a:p>
          <a:p>
            <a:pPr algn="l">
              <a:lnSpc>
                <a:spcPct val="200000"/>
              </a:lnSpc>
              <a:buFont typeface="Arial" panose="020B0604020202020204" pitchFamily="34" charset="0"/>
              <a:buChar char="•"/>
            </a:pPr>
            <a:r>
              <a:rPr lang="vi-VN" b="1" i="0">
                <a:solidFill>
                  <a:srgbClr val="334155"/>
                </a:solidFill>
                <a:effectLst/>
                <a:latin typeface="Times New Roman" panose="02020603050405020304" pitchFamily="18" charset="0"/>
                <a:cs typeface="Times New Roman" panose="02020603050405020304" pitchFamily="18" charset="0"/>
              </a:rPr>
              <a:t>Xử lý sự kiện:</a:t>
            </a:r>
            <a:r>
              <a:rPr lang="vi-VN" b="0" i="0">
                <a:solidFill>
                  <a:srgbClr val="334155"/>
                </a:solidFill>
                <a:effectLst/>
                <a:latin typeface="Times New Roman" panose="02020603050405020304" pitchFamily="18" charset="0"/>
                <a:cs typeface="Times New Roman" panose="02020603050405020304" pitchFamily="18" charset="0"/>
              </a:rPr>
              <a:t> Click, hover, scroll.</a:t>
            </a:r>
          </a:p>
          <a:p>
            <a:pPr algn="l">
              <a:lnSpc>
                <a:spcPct val="200000"/>
              </a:lnSpc>
              <a:buFont typeface="Arial" panose="020B0604020202020204" pitchFamily="34" charset="0"/>
              <a:buChar char="•"/>
            </a:pPr>
            <a:r>
              <a:rPr lang="vi-VN" b="1" i="0">
                <a:solidFill>
                  <a:srgbClr val="334155"/>
                </a:solidFill>
                <a:effectLst/>
                <a:latin typeface="Times New Roman" panose="02020603050405020304" pitchFamily="18" charset="0"/>
                <a:cs typeface="Times New Roman" panose="02020603050405020304" pitchFamily="18" charset="0"/>
              </a:rPr>
              <a:t>Kiểm tra dữ liệu Form:</a:t>
            </a:r>
            <a:r>
              <a:rPr lang="vi-VN" b="0" i="0">
                <a:solidFill>
                  <a:srgbClr val="334155"/>
                </a:solidFill>
                <a:effectLst/>
                <a:latin typeface="Times New Roman" panose="02020603050405020304" pitchFamily="18" charset="0"/>
                <a:cs typeface="Times New Roman" panose="02020603050405020304" pitchFamily="18" charset="0"/>
              </a:rPr>
              <a:t> Validate email, mật khẩu trước khi gửi.</a:t>
            </a:r>
          </a:p>
          <a:p>
            <a:pPr algn="l">
              <a:lnSpc>
                <a:spcPct val="200000"/>
              </a:lnSpc>
              <a:buFont typeface="Arial" panose="020B0604020202020204" pitchFamily="34" charset="0"/>
              <a:buChar char="•"/>
            </a:pPr>
            <a:r>
              <a:rPr lang="vi-VN" b="1" i="0">
                <a:solidFill>
                  <a:srgbClr val="334155"/>
                </a:solidFill>
                <a:effectLst/>
                <a:latin typeface="Times New Roman" panose="02020603050405020304" pitchFamily="18" charset="0"/>
                <a:cs typeface="Times New Roman" panose="02020603050405020304" pitchFamily="18" charset="0"/>
              </a:rPr>
              <a:t>Thao tác với DOM:</a:t>
            </a:r>
            <a:r>
              <a:rPr lang="vi-VN" b="0" i="0">
                <a:solidFill>
                  <a:srgbClr val="334155"/>
                </a:solidFill>
                <a:effectLst/>
                <a:latin typeface="Times New Roman" panose="02020603050405020304" pitchFamily="18" charset="0"/>
                <a:cs typeface="Times New Roman" panose="02020603050405020304" pitchFamily="18" charset="0"/>
              </a:rPr>
              <a:t> Thay đổi nội dung, màu sắc động mà không tải lại trang.</a:t>
            </a:r>
          </a:p>
          <a:p>
            <a:pPr algn="l">
              <a:lnSpc>
                <a:spcPct val="200000"/>
              </a:lnSpc>
              <a:buFont typeface="Arial" panose="020B0604020202020204" pitchFamily="34" charset="0"/>
              <a:buChar char="•"/>
            </a:pPr>
            <a:r>
              <a:rPr lang="vi-VN" b="1" i="0">
                <a:solidFill>
                  <a:srgbClr val="334155"/>
                </a:solidFill>
                <a:effectLst/>
                <a:latin typeface="Times New Roman" panose="02020603050405020304" pitchFamily="18" charset="0"/>
                <a:cs typeface="Times New Roman" panose="02020603050405020304" pitchFamily="18" charset="0"/>
              </a:rPr>
              <a:t>Slider:</a:t>
            </a:r>
            <a:r>
              <a:rPr lang="vi-VN" b="0" i="0">
                <a:solidFill>
                  <a:srgbClr val="334155"/>
                </a:solidFill>
                <a:effectLst/>
                <a:latin typeface="Times New Roman" panose="02020603050405020304" pitchFamily="18" charset="0"/>
                <a:cs typeface="Times New Roman" panose="02020603050405020304" pitchFamily="18" charset="0"/>
              </a:rPr>
              <a:t> Tạo hiệu ứng lướt xem ảnh khóa học mượt mà.</a:t>
            </a:r>
          </a:p>
        </p:txBody>
      </p:sp>
    </p:spTree>
    <p:extLst>
      <p:ext uri="{BB962C8B-B14F-4D97-AF65-F5344CB8AC3E}">
        <p14:creationId xmlns:p14="http://schemas.microsoft.com/office/powerpoint/2010/main" val="3776992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AA774-FEDC-F77E-FE82-C19B312EFF8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7DB76BA-E94D-E90E-760B-7C7B3543DC2E}"/>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XỬ LÝ MÁY CHỦ VỚI NGÔN NGỮ PHP</a:t>
            </a: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AE2380-87C0-4C98-D4B0-F6154CD87EA0}"/>
              </a:ext>
            </a:extLst>
          </p:cNvPr>
          <p:cNvSpPr txBox="1"/>
          <p:nvPr/>
        </p:nvSpPr>
        <p:spPr>
          <a:xfrm>
            <a:off x="1295403" y="2026921"/>
            <a:ext cx="5288277" cy="2697149"/>
          </a:xfrm>
          <a:prstGeom prst="rect">
            <a:avLst/>
          </a:prstGeom>
          <a:noFill/>
        </p:spPr>
        <p:txBody>
          <a:bodyPr wrap="square">
            <a:spAutoFit/>
          </a:bodyPr>
          <a:lstStyle/>
          <a:p>
            <a:pPr algn="l">
              <a:lnSpc>
                <a:spcPct val="150000"/>
              </a:lnSpc>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Cơ chế hoạt động:</a:t>
            </a:r>
          </a:p>
          <a:p>
            <a:pPr algn="l">
              <a:lnSpc>
                <a:spcPct val="150000"/>
              </a:lnSpc>
              <a:buNone/>
            </a:pPr>
            <a:r>
              <a:rPr lang="vi-VN" b="0" i="0">
                <a:solidFill>
                  <a:srgbClr val="334155"/>
                </a:solidFill>
                <a:effectLst/>
                <a:latin typeface="Times New Roman" panose="02020603050405020304" pitchFamily="18" charset="0"/>
                <a:cs typeface="Times New Roman" panose="02020603050405020304" pitchFamily="18" charset="0"/>
              </a:rPr>
              <a:t>1. Trình duyệt gửi yêu cầu HTTP.</a:t>
            </a:r>
            <a:br>
              <a:rPr lang="vi-VN" b="0" i="0">
                <a:solidFill>
                  <a:srgbClr val="334155"/>
                </a:solidFill>
                <a:effectLst/>
                <a:latin typeface="Times New Roman" panose="02020603050405020304" pitchFamily="18" charset="0"/>
                <a:cs typeface="Times New Roman" panose="02020603050405020304" pitchFamily="18" charset="0"/>
              </a:rPr>
            </a:br>
            <a:r>
              <a:rPr lang="vi-VN" b="0" i="0">
                <a:solidFill>
                  <a:srgbClr val="334155"/>
                </a:solidFill>
                <a:effectLst/>
                <a:latin typeface="Times New Roman" panose="02020603050405020304" pitchFamily="18" charset="0"/>
                <a:cs typeface="Times New Roman" panose="02020603050405020304" pitchFamily="18" charset="0"/>
              </a:rPr>
              <a:t>2. Web Server chuyển tệp cho PHP Engine.</a:t>
            </a:r>
            <a:br>
              <a:rPr lang="vi-VN" b="0" i="0">
                <a:solidFill>
                  <a:srgbClr val="334155"/>
                </a:solidFill>
                <a:effectLst/>
                <a:latin typeface="Times New Roman" panose="02020603050405020304" pitchFamily="18" charset="0"/>
                <a:cs typeface="Times New Roman" panose="02020603050405020304" pitchFamily="18" charset="0"/>
              </a:rPr>
            </a:br>
            <a:r>
              <a:rPr lang="vi-VN" b="0" i="0">
                <a:solidFill>
                  <a:srgbClr val="334155"/>
                </a:solidFill>
                <a:effectLst/>
                <a:latin typeface="Times New Roman" panose="02020603050405020304" pitchFamily="18" charset="0"/>
                <a:cs typeface="Times New Roman" panose="02020603050405020304" pitchFamily="18" charset="0"/>
              </a:rPr>
              <a:t>3. PHP truy vấn MySQL và lấy dữ liệu.</a:t>
            </a:r>
            <a:br>
              <a:rPr lang="vi-VN" b="0" i="0">
                <a:solidFill>
                  <a:srgbClr val="334155"/>
                </a:solidFill>
                <a:effectLst/>
                <a:latin typeface="Times New Roman" panose="02020603050405020304" pitchFamily="18" charset="0"/>
                <a:cs typeface="Times New Roman" panose="02020603050405020304" pitchFamily="18" charset="0"/>
              </a:rPr>
            </a:br>
            <a:r>
              <a:rPr lang="vi-VN" b="0" i="0">
                <a:solidFill>
                  <a:srgbClr val="334155"/>
                </a:solidFill>
                <a:effectLst/>
                <a:latin typeface="Times New Roman" panose="02020603050405020304" pitchFamily="18" charset="0"/>
                <a:cs typeface="Times New Roman" panose="02020603050405020304" pitchFamily="18" charset="0"/>
              </a:rPr>
              <a:t>4. PHP xuất ra kết quả dưới dạng HTML thuần túy trả về trình duyệt.</a:t>
            </a:r>
          </a:p>
        </p:txBody>
      </p:sp>
      <p:pic>
        <p:nvPicPr>
          <p:cNvPr id="7" name="Picture 6" descr="A computer screen with a computer server and a server&#10;&#10;AI-generated content may be incorrect.">
            <a:extLst>
              <a:ext uri="{FF2B5EF4-FFF2-40B4-BE49-F238E27FC236}">
                <a16:creationId xmlns:a16="http://schemas.microsoft.com/office/drawing/2014/main" id="{E76ECFA3-6468-A40B-F7BE-E0D16EE9FC11}"/>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6781571" y="1818540"/>
            <a:ext cx="3277057" cy="2905530"/>
          </a:xfrm>
          <a:prstGeom prst="rect">
            <a:avLst/>
          </a:prstGeom>
        </p:spPr>
      </p:pic>
    </p:spTree>
    <p:extLst>
      <p:ext uri="{BB962C8B-B14F-4D97-AF65-F5344CB8AC3E}">
        <p14:creationId xmlns:p14="http://schemas.microsoft.com/office/powerpoint/2010/main" val="1441738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E8693-BA35-E838-A840-15EFDD47586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1C36DBF-1AF3-0465-27E6-A21EE0925BD1}"/>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HỆ QUẢN TRỊ CƠ SỞ DỮ LIỆU MYSQL</a:t>
            </a: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FC3F405-96DD-FF9D-F312-11395424D099}"/>
              </a:ext>
            </a:extLst>
          </p:cNvPr>
          <p:cNvSpPr txBox="1"/>
          <p:nvPr/>
        </p:nvSpPr>
        <p:spPr>
          <a:xfrm>
            <a:off x="1425677" y="2123768"/>
            <a:ext cx="9271820" cy="2543260"/>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Đặc điểm ứng dụng trong đề tài:</a:t>
            </a:r>
          </a:p>
          <a:p>
            <a:pPr algn="l">
              <a:lnSpc>
                <a:spcPct val="150000"/>
              </a:lnSpc>
              <a:buNone/>
            </a:pPr>
            <a:r>
              <a:rPr lang="vi-VN" b="0" i="0">
                <a:solidFill>
                  <a:srgbClr val="334155"/>
                </a:solidFill>
                <a:effectLst/>
                <a:latin typeface="Times New Roman" panose="02020603050405020304" pitchFamily="18" charset="0"/>
                <a:cs typeface="Times New Roman" panose="02020603050405020304" pitchFamily="18" charset="0"/>
              </a:rPr>
              <a:t>	MySQL lưu trữ thông tin học viên, khóa học và yêu cầu tư vấn theo mô hình quan hệ (RDBMS). Sử dụng các ràng buộc Khóa chính (Primary Key) và Khóa ngoại (Foreign Key) để đảm bảo tính toàn vẹn dữ liệu.</a:t>
            </a:r>
          </a:p>
          <a:p>
            <a:pPr>
              <a:lnSpc>
                <a:spcPct val="150000"/>
              </a:lnSpc>
            </a:pPr>
            <a:r>
              <a:rPr lang="vi-VN" b="1">
                <a:latin typeface="Times New Roman" panose="02020603050405020304" pitchFamily="18" charset="0"/>
                <a:cs typeface="Times New Roman" panose="02020603050405020304" pitchFamily="18" charset="0"/>
              </a:rPr>
              <a:t>INSERT:</a:t>
            </a:r>
            <a:r>
              <a:rPr lang="vi-VN">
                <a:latin typeface="Times New Roman" panose="02020603050405020304" pitchFamily="18" charset="0"/>
                <a:cs typeface="Times New Roman" panose="02020603050405020304" pitchFamily="18" charset="0"/>
              </a:rPr>
              <a:t> Lưu thông tin ghi danh.</a:t>
            </a:r>
          </a:p>
          <a:p>
            <a:pPr>
              <a:lnSpc>
                <a:spcPct val="150000"/>
              </a:lnSpc>
            </a:pPr>
            <a:r>
              <a:rPr lang="en-US" b="1">
                <a:latin typeface="Times New Roman" panose="02020603050405020304" pitchFamily="18" charset="0"/>
                <a:cs typeface="Times New Roman" panose="02020603050405020304" pitchFamily="18" charset="0"/>
              </a:rPr>
              <a:t>SELECT:</a:t>
            </a:r>
            <a:r>
              <a:rPr lang="en-US">
                <a:latin typeface="Times New Roman" panose="02020603050405020304" pitchFamily="18" charset="0"/>
                <a:cs typeface="Times New Roman" panose="02020603050405020304" pitchFamily="18" charset="0"/>
              </a:rPr>
              <a:t> Hiển thị khóa học.</a:t>
            </a:r>
            <a:endParaRPr lang="vi-VN" b="0" i="0">
              <a:solidFill>
                <a:srgbClr val="33415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2324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A0A1F-7C24-1160-E0AF-44152118C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1282E7-7FD4-4307-FEE5-EFEA2E4B5B63}"/>
              </a:ext>
            </a:extLst>
          </p:cNvPr>
          <p:cNvSpPr>
            <a:spLocks noGrp="1"/>
          </p:cNvSpPr>
          <p:nvPr>
            <p:ph type="title"/>
          </p:nvPr>
        </p:nvSpPr>
        <p:spPr/>
        <p:txBody>
          <a:bodyPr>
            <a:noAutofit/>
          </a:bodyPr>
          <a:lstStyle/>
          <a:p>
            <a:r>
              <a:rPr lang="vi-VN" sz="3200" b="1">
                <a:latin typeface="Times New Roman" panose="02020603050405020304" pitchFamily="18" charset="0"/>
                <a:cs typeface="Times New Roman" panose="02020603050405020304" pitchFamily="18" charset="0"/>
              </a:rPr>
              <a:t>CHƯƠNG 3: HIỆN THỰC HÓA NGHIÊN CỨU</a:t>
            </a:r>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6866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70220-40AE-66CF-2E1E-5FE2E218E304}"/>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98E62C7-344C-E837-A89E-9223EF733EBB}"/>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MÔ TẢ BÀI TOÁN NGHIỆP VỤ </a:t>
            </a:r>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BA45DDD-9C39-4CB4-7742-F9D9883CC250}"/>
              </a:ext>
            </a:extLst>
          </p:cNvPr>
          <p:cNvSpPr txBox="1"/>
          <p:nvPr/>
        </p:nvSpPr>
        <p:spPr>
          <a:xfrm>
            <a:off x="1371600" y="2034540"/>
            <a:ext cx="7785735" cy="2306850"/>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Thực tế vận hành :</a:t>
            </a:r>
          </a:p>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	Khách hàng quan tâm khóa học gửi thông tin tư vấn. Sau khi được tư vấn, họ thực hiện việc chọn các khóa học và đăng kí ghi danh. Người quản trị có trách nhiệm phê duyệt trạng thái đăng kí của học viên sau khi kiểm tra các điều kiện.</a:t>
            </a:r>
          </a:p>
        </p:txBody>
      </p:sp>
    </p:spTree>
    <p:extLst>
      <p:ext uri="{BB962C8B-B14F-4D97-AF65-F5344CB8AC3E}">
        <p14:creationId xmlns:p14="http://schemas.microsoft.com/office/powerpoint/2010/main" val="4176704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EB72-C639-4AD0-A26F-165749E348C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6B12B9E-8B4A-723E-F336-EEF5ED694217}"/>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MỤC TIÊU</a:t>
            </a:r>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18B788A-58B0-AF8E-52DD-EAB2243758A2}"/>
              </a:ext>
            </a:extLst>
          </p:cNvPr>
          <p:cNvSpPr txBox="1"/>
          <p:nvPr/>
        </p:nvSpPr>
        <p:spPr>
          <a:xfrm>
            <a:off x="1295402" y="2152527"/>
            <a:ext cx="4800599" cy="2177519"/>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1. </a:t>
            </a:r>
            <a:r>
              <a:rPr lang="vi-VN" sz="2000" b="1">
                <a:solidFill>
                  <a:srgbClr val="005088"/>
                </a:solidFill>
                <a:latin typeface="Times New Roman" panose="02020603050405020304" pitchFamily="18" charset="0"/>
                <a:cs typeface="Times New Roman" panose="02020603050405020304" pitchFamily="18" charset="0"/>
              </a:rPr>
              <a:t>Về nghiệp vụ</a:t>
            </a:r>
            <a:r>
              <a:rPr lang="vi-VN" sz="2000" b="1" i="0">
                <a:solidFill>
                  <a:srgbClr val="005088"/>
                </a:solidFill>
                <a:effectLst/>
                <a:latin typeface="Times New Roman" panose="02020603050405020304" pitchFamily="18" charset="0"/>
                <a:cs typeface="Times New Roman" panose="02020603050405020304" pitchFamily="18" charset="0"/>
              </a:rPr>
              <a:t> </a:t>
            </a:r>
          </a:p>
          <a:p>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Tự động hóa quy trình tiếp nhận thông tin học viên.</a:t>
            </a:r>
          </a:p>
          <a:p>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Quản lý danh mục khóa học khoa học và dễ cập nhật.</a:t>
            </a:r>
          </a:p>
          <a:p>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Giảm thiểu thời gian xử lý thủ tục ghi danh trực tiếp.</a:t>
            </a:r>
          </a:p>
        </p:txBody>
      </p:sp>
      <p:sp>
        <p:nvSpPr>
          <p:cNvPr id="3" name="TextBox 2">
            <a:extLst>
              <a:ext uri="{FF2B5EF4-FFF2-40B4-BE49-F238E27FC236}">
                <a16:creationId xmlns:a16="http://schemas.microsoft.com/office/drawing/2014/main" id="{A7FA831B-59BD-B7AE-8BCA-289EBED38EFB}"/>
              </a:ext>
            </a:extLst>
          </p:cNvPr>
          <p:cNvSpPr txBox="1"/>
          <p:nvPr/>
        </p:nvSpPr>
        <p:spPr>
          <a:xfrm>
            <a:off x="6096000" y="2034540"/>
            <a:ext cx="5319253" cy="2173928"/>
          </a:xfrm>
          <a:prstGeom prst="rect">
            <a:avLst/>
          </a:prstGeom>
          <a:noFill/>
        </p:spPr>
        <p:txBody>
          <a:bodyPr wrap="square">
            <a:spAutoFit/>
          </a:bodyPr>
          <a:lstStyle/>
          <a:p>
            <a:pPr algn="l">
              <a:spcAft>
                <a:spcPts val="900"/>
              </a:spcAft>
              <a:buNone/>
            </a:pPr>
            <a:r>
              <a:rPr lang="vi-VN" sz="2000" b="1">
                <a:solidFill>
                  <a:srgbClr val="005088"/>
                </a:solidFill>
                <a:latin typeface="Times New Roman" panose="02020603050405020304" pitchFamily="18" charset="0"/>
                <a:cs typeface="Times New Roman" panose="02020603050405020304" pitchFamily="18" charset="0"/>
              </a:rPr>
              <a:t>2</a:t>
            </a:r>
            <a:r>
              <a:rPr lang="vi-VN" sz="2000" b="1" i="0">
                <a:solidFill>
                  <a:srgbClr val="005088"/>
                </a:solidFill>
                <a:effectLst/>
                <a:latin typeface="Times New Roman" panose="02020603050405020304" pitchFamily="18" charset="0"/>
                <a:cs typeface="Times New Roman" panose="02020603050405020304" pitchFamily="18" charset="0"/>
              </a:rPr>
              <a:t>. </a:t>
            </a:r>
            <a:r>
              <a:rPr lang="vi-VN" sz="2000" b="1">
                <a:solidFill>
                  <a:srgbClr val="005088"/>
                </a:solidFill>
                <a:latin typeface="Times New Roman" panose="02020603050405020304" pitchFamily="18" charset="0"/>
                <a:cs typeface="Times New Roman" panose="02020603050405020304" pitchFamily="18" charset="0"/>
              </a:rPr>
              <a:t>Về mặt kỹ thuật</a:t>
            </a:r>
            <a:r>
              <a:rPr lang="vi-VN" sz="2000" b="1" i="0">
                <a:solidFill>
                  <a:srgbClr val="005088"/>
                </a:solidFill>
                <a:effectLst/>
                <a:latin typeface="Times New Roman" panose="02020603050405020304" pitchFamily="18" charset="0"/>
                <a:cs typeface="Times New Roman" panose="02020603050405020304" pitchFamily="18" charset="0"/>
              </a:rPr>
              <a:t> </a:t>
            </a:r>
          </a:p>
          <a:p>
            <a:pPr>
              <a:lnSpc>
                <a:spcPct val="150000"/>
              </a:lnSpc>
            </a:pPr>
            <a:r>
              <a:rPr lang="vi-VN" sz="200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Giao diện trực quan, dễ sử dụng (UX/UI).</a:t>
            </a:r>
          </a:p>
          <a:p>
            <a:pPr>
              <a:lnSpc>
                <a:spcPct val="150000"/>
              </a:lnSpc>
            </a:pPr>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Đảm bảo tính toàn vẹn và bảo mật dữ liệu.</a:t>
            </a:r>
          </a:p>
          <a:p>
            <a:pPr>
              <a:lnSpc>
                <a:spcPct val="150000"/>
              </a:lnSpc>
            </a:pPr>
            <a:r>
              <a:rPr lang="vi-VN">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Hệ thống hoạt động ổn định trên nhiều thiết bị (Responsive).</a:t>
            </a:r>
          </a:p>
        </p:txBody>
      </p:sp>
    </p:spTree>
    <p:extLst>
      <p:ext uri="{BB962C8B-B14F-4D97-AF65-F5344CB8AC3E}">
        <p14:creationId xmlns:p14="http://schemas.microsoft.com/office/powerpoint/2010/main" val="3422079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62E7-EFB5-63C9-9A63-D667BD8A5C8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5A60989-FA2E-9EE7-4B27-BBF910C0B52E}"/>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ĐẶC TẢ BÀI TOÁN </a:t>
            </a:r>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4081222-FA8D-0FA6-EB01-34A646E94A52}"/>
              </a:ext>
            </a:extLst>
          </p:cNvPr>
          <p:cNvSpPr txBox="1"/>
          <p:nvPr/>
        </p:nvSpPr>
        <p:spPr>
          <a:xfrm>
            <a:off x="1295402" y="2034540"/>
            <a:ext cx="4800599" cy="2306850"/>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1. Đối với người dùng </a:t>
            </a:r>
          </a:p>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	Người dùng có thể tra cứu các khóa học của trung tâm, gửi yêu cầu tư vấn, đăng ký tài khoản và theo dõi trạng thái khóa học cá nhân.</a:t>
            </a:r>
          </a:p>
        </p:txBody>
      </p:sp>
      <p:sp>
        <p:nvSpPr>
          <p:cNvPr id="3" name="TextBox 2">
            <a:extLst>
              <a:ext uri="{FF2B5EF4-FFF2-40B4-BE49-F238E27FC236}">
                <a16:creationId xmlns:a16="http://schemas.microsoft.com/office/drawing/2014/main" id="{9829E4A0-11E4-6739-8B73-CABD6F61EBF2}"/>
              </a:ext>
            </a:extLst>
          </p:cNvPr>
          <p:cNvSpPr txBox="1"/>
          <p:nvPr/>
        </p:nvSpPr>
        <p:spPr>
          <a:xfrm>
            <a:off x="6096000" y="2034540"/>
            <a:ext cx="5319253" cy="1845185"/>
          </a:xfrm>
          <a:prstGeom prst="rect">
            <a:avLst/>
          </a:prstGeom>
          <a:noFill/>
        </p:spPr>
        <p:txBody>
          <a:bodyPr wrap="square">
            <a:spAutoFit/>
          </a:bodyPr>
          <a:lstStyle/>
          <a:p>
            <a:pPr algn="l">
              <a:spcAft>
                <a:spcPts val="900"/>
              </a:spcAft>
              <a:buNone/>
            </a:pPr>
            <a:r>
              <a:rPr lang="vi-VN" sz="2000" b="1">
                <a:solidFill>
                  <a:srgbClr val="005088"/>
                </a:solidFill>
                <a:latin typeface="Times New Roman" panose="02020603050405020304" pitchFamily="18" charset="0"/>
                <a:cs typeface="Times New Roman" panose="02020603050405020304" pitchFamily="18" charset="0"/>
              </a:rPr>
              <a:t>2</a:t>
            </a:r>
            <a:r>
              <a:rPr lang="vi-VN" sz="2000" b="1" i="0">
                <a:solidFill>
                  <a:srgbClr val="005088"/>
                </a:solidFill>
                <a:effectLst/>
                <a:latin typeface="Times New Roman" panose="02020603050405020304" pitchFamily="18" charset="0"/>
                <a:cs typeface="Times New Roman" panose="02020603050405020304" pitchFamily="18" charset="0"/>
              </a:rPr>
              <a:t>. Đối với người quản trị </a:t>
            </a:r>
          </a:p>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	Người quản trị có thể quản lý nội dung website, khóa học (thêm, xóa, sửa,..), phê duyệt học viên và theo dõi thống kê truy cập.</a:t>
            </a:r>
          </a:p>
        </p:txBody>
      </p:sp>
    </p:spTree>
    <p:extLst>
      <p:ext uri="{BB962C8B-B14F-4D97-AF65-F5344CB8AC3E}">
        <p14:creationId xmlns:p14="http://schemas.microsoft.com/office/powerpoint/2010/main" val="1886003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2D27-15C4-56F6-896E-670642EDAFA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339882-7506-CB1C-52B0-59037763F8D7}"/>
              </a:ext>
            </a:extLst>
          </p:cNvPr>
          <p:cNvSpPr>
            <a:spLocks noGrp="1"/>
          </p:cNvSpPr>
          <p:nvPr>
            <p:ph type="title"/>
          </p:nvPr>
        </p:nvSpPr>
        <p:spPr/>
        <p:txBody>
          <a:bodyPr>
            <a:noAutofit/>
          </a:bodyPr>
          <a:lstStyle/>
          <a:p>
            <a:r>
              <a:rPr lang="vi-VN" sz="3200" b="1">
                <a:latin typeface="Times New Roman" panose="02020603050405020304" pitchFamily="18" charset="0"/>
                <a:cs typeface="Times New Roman" panose="02020603050405020304" pitchFamily="18" charset="0"/>
              </a:rPr>
              <a:t>CHƯƠNG 4: KẾT QUẢ NGHIÊN CỨU</a:t>
            </a:r>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35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5168D8FD-CAC7-7601-83DB-0C0E56559F9C}"/>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452284" y="593704"/>
            <a:ext cx="11149779" cy="588690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TextBox 4">
            <a:extLst>
              <a:ext uri="{FF2B5EF4-FFF2-40B4-BE49-F238E27FC236}">
                <a16:creationId xmlns:a16="http://schemas.microsoft.com/office/drawing/2014/main" id="{FB64C693-1B31-2DCB-D352-8B5695722BCD}"/>
              </a:ext>
            </a:extLst>
          </p:cNvPr>
          <p:cNvSpPr txBox="1"/>
          <p:nvPr/>
        </p:nvSpPr>
        <p:spPr>
          <a:xfrm>
            <a:off x="6685935" y="1209368"/>
            <a:ext cx="4798142" cy="1508105"/>
          </a:xfrm>
          <a:prstGeom prst="rect">
            <a:avLst/>
          </a:prstGeom>
          <a:noFill/>
        </p:spPr>
        <p:txBody>
          <a:bodyPr wrap="square" rtlCol="0">
            <a:spAutoFit/>
          </a:bodyPr>
          <a:lstStyle/>
          <a:p>
            <a:r>
              <a:rPr lang="vi-VN" sz="2000">
                <a:solidFill>
                  <a:schemeClr val="tx1">
                    <a:lumMod val="85000"/>
                    <a:lumOff val="15000"/>
                  </a:schemeClr>
                </a:solidFill>
                <a:latin typeface="Times New Roman" panose="02020603050405020304" pitchFamily="18" charset="0"/>
                <a:cs typeface="Times New Roman" panose="02020603050405020304" pitchFamily="18" charset="0"/>
              </a:rPr>
              <a:t>Đặc điểm nổi bật </a:t>
            </a:r>
          </a:p>
          <a:p>
            <a:r>
              <a:rPr lang="vi-VN">
                <a:solidFill>
                  <a:schemeClr val="tx1">
                    <a:lumMod val="85000"/>
                    <a:lumOff val="15000"/>
                  </a:schemeClr>
                </a:solidFill>
                <a:latin typeface="Times New Roman" panose="02020603050405020304" pitchFamily="18" charset="0"/>
                <a:cs typeface="Times New Roman" panose="02020603050405020304" pitchFamily="18" charset="0"/>
              </a:rPr>
              <a:t>-Navbar tích hợp logo HNMT và menu điều hướng nhanh.</a:t>
            </a:r>
          </a:p>
          <a:p>
            <a:r>
              <a:rPr lang="vi-VN">
                <a:solidFill>
                  <a:schemeClr val="tx1">
                    <a:lumMod val="85000"/>
                    <a:lumOff val="15000"/>
                  </a:schemeClr>
                </a:solidFill>
                <a:latin typeface="Times New Roman" panose="02020603050405020304" pitchFamily="18" charset="0"/>
                <a:cs typeface="Times New Roman" panose="02020603050405020304" pitchFamily="18" charset="0"/>
              </a:rPr>
              <a:t>-Nút ‘Tư vấn miễn phí’ nổi bật.</a:t>
            </a:r>
          </a:p>
          <a:p>
            <a:r>
              <a:rPr lang="vi-VN">
                <a:solidFill>
                  <a:schemeClr val="tx1">
                    <a:lumMod val="85000"/>
                    <a:lumOff val="15000"/>
                  </a:schemeClr>
                </a:solidFill>
                <a:latin typeface="Times New Roman" panose="02020603050405020304" pitchFamily="18" charset="0"/>
                <a:cs typeface="Times New Roman" panose="02020603050405020304" pitchFamily="18" charset="0"/>
              </a:rPr>
              <a:t>-Section ‘khám phá khóa học’hiển thị trực quan.</a:t>
            </a:r>
            <a:endParaRPr lang="en-US">
              <a:solidFill>
                <a:schemeClr val="tx1">
                  <a:lumMod val="85000"/>
                  <a:lumOff val="1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7934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5DB5-D8B5-0A47-3A7B-430FAB89D8A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E0CDEEC-2990-5D6F-6430-2D6AC1BB3BA5}"/>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DANH SÁCH KHÓA HỌC VÀ TÌM KIẾM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009FD9B-A5F0-F955-6AD8-48D0A2F257C2}"/>
              </a:ext>
            </a:extLst>
          </p:cNvPr>
          <p:cNvSpPr txBox="1"/>
          <p:nvPr/>
        </p:nvSpPr>
        <p:spPr>
          <a:xfrm>
            <a:off x="1291166" y="1848465"/>
            <a:ext cx="9609668" cy="873572"/>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Website hiển thị đầy đủ 9 khóa học với 2 danh mục lớn. Tích hợp bộ lọc thông minh giúp học viên tìm kiếm theo tên hoặc trình độ mong muốn, tối ưu hóa thời gian tra cứu.</a:t>
            </a:r>
          </a:p>
        </p:txBody>
      </p:sp>
      <p:pic>
        <p:nvPicPr>
          <p:cNvPr id="3" name="Picture 2">
            <a:extLst>
              <a:ext uri="{FF2B5EF4-FFF2-40B4-BE49-F238E27FC236}">
                <a16:creationId xmlns:a16="http://schemas.microsoft.com/office/drawing/2014/main" id="{3C9D2B94-29D3-49D4-6164-56FA0AA686F5}"/>
              </a:ext>
            </a:extLst>
          </p:cNvPr>
          <p:cNvPicPr>
            <a:picLocks noChangeAspect="1"/>
          </p:cNvPicPr>
          <p:nvPr/>
        </p:nvPicPr>
        <p:blipFill>
          <a:blip r:embed="rId2"/>
          <a:stretch>
            <a:fillRect/>
          </a:stretch>
        </p:blipFill>
        <p:spPr>
          <a:xfrm>
            <a:off x="1291166" y="2722037"/>
            <a:ext cx="9609668" cy="3446209"/>
          </a:xfrm>
          <a:prstGeom prst="rect">
            <a:avLst/>
          </a:prstGeom>
        </p:spPr>
      </p:pic>
    </p:spTree>
    <p:extLst>
      <p:ext uri="{BB962C8B-B14F-4D97-AF65-F5344CB8AC3E}">
        <p14:creationId xmlns:p14="http://schemas.microsoft.com/office/powerpoint/2010/main" val="2823381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7D2B-06EB-5D63-E4FC-72E51B54ABB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2AB8D02-BC09-21DB-825B-124365E7CC05}"/>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ĐĂNG KÍ VÀ ĐĂNG NHẬP BẢO MẬT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736BA8-4440-DD49-37E5-A89198F6F198}"/>
              </a:ext>
            </a:extLst>
          </p:cNvPr>
          <p:cNvSpPr txBox="1"/>
          <p:nvPr/>
        </p:nvSpPr>
        <p:spPr>
          <a:xfrm>
            <a:off x="1291166" y="1848465"/>
            <a:ext cx="9609668" cy="1289071"/>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Hệ thống sử dụng PHP session để duy trì trạng thái đăng nhập. From đăng nhập yêu cầu email và mật khẩu(đã mã hóa) để bảo vệ thông tin học viên. Chức năng đăng ký tích hợp Javascipt để kiểm tra tính hợp lệ của dữ liệu đầu vào.</a:t>
            </a:r>
          </a:p>
        </p:txBody>
      </p:sp>
      <p:pic>
        <p:nvPicPr>
          <p:cNvPr id="8" name="Picture 7">
            <a:extLst>
              <a:ext uri="{FF2B5EF4-FFF2-40B4-BE49-F238E27FC236}">
                <a16:creationId xmlns:a16="http://schemas.microsoft.com/office/drawing/2014/main" id="{633223F7-9586-86F4-EB53-E631684B3376}"/>
              </a:ext>
            </a:extLst>
          </p:cNvPr>
          <p:cNvPicPr>
            <a:picLocks noChangeAspect="1"/>
          </p:cNvPicPr>
          <p:nvPr/>
        </p:nvPicPr>
        <p:blipFill>
          <a:blip r:embed="rId2"/>
          <a:stretch>
            <a:fillRect/>
          </a:stretch>
        </p:blipFill>
        <p:spPr>
          <a:xfrm>
            <a:off x="4627774" y="2716429"/>
            <a:ext cx="2359821" cy="3428999"/>
          </a:xfrm>
          <a:prstGeom prst="rect">
            <a:avLst/>
          </a:prstGeom>
        </p:spPr>
      </p:pic>
      <p:pic>
        <p:nvPicPr>
          <p:cNvPr id="11" name="Picture 10">
            <a:extLst>
              <a:ext uri="{FF2B5EF4-FFF2-40B4-BE49-F238E27FC236}">
                <a16:creationId xmlns:a16="http://schemas.microsoft.com/office/drawing/2014/main" id="{79AAC107-FF8F-3817-7F3C-9C9E3E4F5E9A}"/>
              </a:ext>
            </a:extLst>
          </p:cNvPr>
          <p:cNvPicPr>
            <a:picLocks noChangeAspect="1"/>
          </p:cNvPicPr>
          <p:nvPr/>
        </p:nvPicPr>
        <p:blipFill>
          <a:blip r:embed="rId3"/>
          <a:stretch>
            <a:fillRect/>
          </a:stretch>
        </p:blipFill>
        <p:spPr>
          <a:xfrm>
            <a:off x="7288363" y="2716429"/>
            <a:ext cx="2359821" cy="3429000"/>
          </a:xfrm>
          <a:prstGeom prst="rect">
            <a:avLst/>
          </a:prstGeom>
        </p:spPr>
      </p:pic>
    </p:spTree>
    <p:extLst>
      <p:ext uri="{BB962C8B-B14F-4D97-AF65-F5344CB8AC3E}">
        <p14:creationId xmlns:p14="http://schemas.microsoft.com/office/powerpoint/2010/main" val="427951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E90D-385E-1C18-13FF-2E5C87F3349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29B24CA-A3F5-E367-05FD-67F38940FAE7}"/>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NHẬN YÊU CẦU TƯ VẤN ONLINE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DBA3D49-0BD8-95DB-EEC5-ABD6D2C839E1}"/>
              </a:ext>
            </a:extLst>
          </p:cNvPr>
          <p:cNvSpPr txBox="1"/>
          <p:nvPr/>
        </p:nvSpPr>
        <p:spPr>
          <a:xfrm>
            <a:off x="1291166" y="1848465"/>
            <a:ext cx="9609668" cy="1335237"/>
          </a:xfrm>
          <a:prstGeom prst="rect">
            <a:avLst/>
          </a:prstGeom>
          <a:noFill/>
        </p:spPr>
        <p:txBody>
          <a:bodyPr wrap="square" rtlCol="0">
            <a:spAutoFit/>
          </a:bodyPr>
          <a:lstStyle/>
          <a:p>
            <a:pPr>
              <a:lnSpc>
                <a:spcPct val="150000"/>
              </a:lnSpc>
            </a:pPr>
            <a:r>
              <a:rPr lang="vi-VN" sz="2000">
                <a:solidFill>
                  <a:srgbClr val="00B0F0"/>
                </a:solidFill>
                <a:latin typeface="Times New Roman" panose="02020603050405020304" pitchFamily="18" charset="0"/>
                <a:cs typeface="Times New Roman" panose="02020603050405020304" pitchFamily="18" charset="0"/>
              </a:rPr>
              <a:t>Biểu mẫu hỗ trợ :</a:t>
            </a:r>
          </a:p>
          <a:p>
            <a:pPr>
              <a:lnSpc>
                <a:spcPct val="150000"/>
              </a:lnSpc>
            </a:pPr>
            <a:r>
              <a:rPr lang="vi-VN">
                <a:latin typeface="Times New Roman" panose="02020603050405020304" pitchFamily="18" charset="0"/>
                <a:cs typeface="Times New Roman" panose="02020603050405020304" pitchFamily="18" charset="0"/>
              </a:rPr>
              <a:t>	Học viên nhập thông tin cá nhân và tin nhắn. Sau khi gửi, dữ liệu lập tức đổ về bảng trong admin để bộ phận tuyển sinh liên hệ lại nhanh nhất.</a:t>
            </a:r>
          </a:p>
        </p:txBody>
      </p:sp>
    </p:spTree>
    <p:extLst>
      <p:ext uri="{BB962C8B-B14F-4D97-AF65-F5344CB8AC3E}">
        <p14:creationId xmlns:p14="http://schemas.microsoft.com/office/powerpoint/2010/main" val="2872074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9500A-D79B-E62A-C399-DE2299DF16C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9C3CD51-2F11-06EF-F625-E6A8E5AACA4F}"/>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THEO DÕI KHÓA HỌC CÁ NHÂN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E63C5FD-CD71-35C5-58A7-BFC583AF0A68}"/>
              </a:ext>
            </a:extLst>
          </p:cNvPr>
          <p:cNvSpPr txBox="1"/>
          <p:nvPr/>
        </p:nvSpPr>
        <p:spPr>
          <a:xfrm>
            <a:off x="1291166" y="1848465"/>
            <a:ext cx="9609668" cy="1289071"/>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Học viên có trang cá nhân riêng để xem danh sách các khóa học mình đã đăng ký ghi danh, kèm theo trạng thái’chờ duyệt’ hoặc ‘đã duyệt’ do trung tâm phê duyệt.Học viên cũng có thể hủy đăng ký khóa học đó.</a:t>
            </a:r>
          </a:p>
        </p:txBody>
      </p:sp>
      <p:pic>
        <p:nvPicPr>
          <p:cNvPr id="3" name="Picture 2">
            <a:extLst>
              <a:ext uri="{FF2B5EF4-FFF2-40B4-BE49-F238E27FC236}">
                <a16:creationId xmlns:a16="http://schemas.microsoft.com/office/drawing/2014/main" id="{B2F62DF7-FB4B-2CB4-DBE4-63A1F6FC66C6}"/>
              </a:ext>
            </a:extLst>
          </p:cNvPr>
          <p:cNvPicPr>
            <a:picLocks noChangeAspect="1"/>
          </p:cNvPicPr>
          <p:nvPr/>
        </p:nvPicPr>
        <p:blipFill>
          <a:blip r:embed="rId2"/>
          <a:stretch>
            <a:fillRect/>
          </a:stretch>
        </p:blipFill>
        <p:spPr>
          <a:xfrm>
            <a:off x="2864329" y="2750947"/>
            <a:ext cx="6938432" cy="3349968"/>
          </a:xfrm>
          <a:prstGeom prst="rect">
            <a:avLst/>
          </a:prstGeom>
        </p:spPr>
      </p:pic>
    </p:spTree>
    <p:extLst>
      <p:ext uri="{BB962C8B-B14F-4D97-AF65-F5344CB8AC3E}">
        <p14:creationId xmlns:p14="http://schemas.microsoft.com/office/powerpoint/2010/main" val="944272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B57BF-1596-E917-78EB-FF774FCF4B5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4708A47-6CA8-612E-01DD-F41AE1D6A3E8}"/>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QUẢN LÝ KHÓA HỌC VÀ NỘI DUNG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5F98F77-73F8-F3F1-7A78-090AEFEC7F9A}"/>
              </a:ext>
            </a:extLst>
          </p:cNvPr>
          <p:cNvSpPr txBox="1"/>
          <p:nvPr/>
        </p:nvSpPr>
        <p:spPr>
          <a:xfrm>
            <a:off x="1291166" y="1848465"/>
            <a:ext cx="9609668" cy="1289071"/>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Admin thực hiện các thao tác thêm mới khóa học, chỉnh sửa học phí/lịch học,... Hoặc xóa các chương trình không còn tuyển sinh. Mọi thay đổi đều được cập nhật thời gian thực lên trang chủ người dùng.</a:t>
            </a:r>
          </a:p>
        </p:txBody>
      </p:sp>
      <p:sp>
        <p:nvSpPr>
          <p:cNvPr id="2" name="Title 9">
            <a:extLst>
              <a:ext uri="{FF2B5EF4-FFF2-40B4-BE49-F238E27FC236}">
                <a16:creationId xmlns:a16="http://schemas.microsoft.com/office/drawing/2014/main" id="{853102F9-6F2C-0A07-305D-A1E6CD9BF67D}"/>
              </a:ext>
            </a:extLst>
          </p:cNvPr>
          <p:cNvSpPr txBox="1">
            <a:spLocks/>
          </p:cNvSpPr>
          <p:nvPr/>
        </p:nvSpPr>
        <p:spPr>
          <a:xfrm>
            <a:off x="1291166" y="3216195"/>
            <a:ext cx="9609668" cy="860400"/>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3200" b="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latin typeface="Times New Roman" panose="02020603050405020304" pitchFamily="18" charset="0"/>
                <a:cs typeface="Times New Roman" panose="02020603050405020304" pitchFamily="18" charset="0"/>
              </a:rPr>
              <a:t>PHÊ DUYỆT ĐƠN ĐĂNG KÝ HỌC VIÊN </a:t>
            </a: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893407A-E1A3-034A-5627-2B2CCC409EBB}"/>
              </a:ext>
            </a:extLst>
          </p:cNvPr>
          <p:cNvSpPr txBox="1"/>
          <p:nvPr/>
        </p:nvSpPr>
        <p:spPr>
          <a:xfrm>
            <a:off x="1291166" y="4076595"/>
            <a:ext cx="9609668" cy="1289071"/>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Nghiệp vụ quan trọng nhất: Admin tiếp nhận đơn ghi danh từ bảng dữ liệu, xác nhận thông tin thanh toán của học viên và thực hiện chuyển trạng thái thành ‘đã duyệt’ để cấp quyền nhập học chính thức.</a:t>
            </a:r>
          </a:p>
        </p:txBody>
      </p:sp>
    </p:spTree>
    <p:extLst>
      <p:ext uri="{BB962C8B-B14F-4D97-AF65-F5344CB8AC3E}">
        <p14:creationId xmlns:p14="http://schemas.microsoft.com/office/powerpoint/2010/main" val="1135723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F054-ED45-78C7-5098-1A334AF59F3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1AF8A89-71FD-1EE4-500F-3F528243857B}"/>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HIỂN THỊ DA THIẾT BỊ  </a:t>
            </a: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86DE9FA-473B-E4BD-A31D-FF40D81EB7FE}"/>
              </a:ext>
            </a:extLst>
          </p:cNvPr>
          <p:cNvSpPr txBox="1"/>
          <p:nvPr/>
        </p:nvSpPr>
        <p:spPr>
          <a:xfrm>
            <a:off x="1291166" y="1848465"/>
            <a:ext cx="9609668" cy="873572"/>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	Website hiển thị hoàn hảo trên nhiều thiết bị nhờ sự hỗ trợ của Bootstrap5, đảm bảo trải nghiệm người dùng không bị gián đoạn.</a:t>
            </a:r>
          </a:p>
        </p:txBody>
      </p:sp>
      <p:sp>
        <p:nvSpPr>
          <p:cNvPr id="2" name="Title 9">
            <a:extLst>
              <a:ext uri="{FF2B5EF4-FFF2-40B4-BE49-F238E27FC236}">
                <a16:creationId xmlns:a16="http://schemas.microsoft.com/office/drawing/2014/main" id="{D276C2D6-558D-7471-F171-8A913B0EA7F0}"/>
              </a:ext>
            </a:extLst>
          </p:cNvPr>
          <p:cNvSpPr txBox="1">
            <a:spLocks/>
          </p:cNvSpPr>
          <p:nvPr/>
        </p:nvSpPr>
        <p:spPr>
          <a:xfrm>
            <a:off x="1291166" y="2864527"/>
            <a:ext cx="9609668" cy="860400"/>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3200" b="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vi-VN">
                <a:latin typeface="Times New Roman" panose="02020603050405020304" pitchFamily="18" charset="0"/>
                <a:cs typeface="Times New Roman" panose="02020603050405020304" pitchFamily="18" charset="0"/>
              </a:rPr>
              <a:t>HỆ THỐNG QUẢN TRỊ DASHBOARD </a:t>
            </a: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40F33FE-18E6-BB11-1983-57DF32AACEFA}"/>
              </a:ext>
            </a:extLst>
          </p:cNvPr>
          <p:cNvSpPr txBox="1"/>
          <p:nvPr/>
        </p:nvSpPr>
        <p:spPr>
          <a:xfrm>
            <a:off x="1291166" y="3867417"/>
            <a:ext cx="9609668" cy="1704569"/>
          </a:xfrm>
          <a:prstGeom prst="rect">
            <a:avLst/>
          </a:prstGeom>
          <a:noFill/>
        </p:spPr>
        <p:txBody>
          <a:bodyPr wrap="square" rtlCol="0">
            <a:spAutoFit/>
          </a:bodyPr>
          <a:lstStyle/>
          <a:p>
            <a:pPr>
              <a:lnSpc>
                <a:spcPct val="150000"/>
              </a:lnSpc>
            </a:pPr>
            <a:r>
              <a:rPr lang="vi-VN">
                <a:latin typeface="Times New Roman" panose="02020603050405020304" pitchFamily="18" charset="0"/>
                <a:cs typeface="Times New Roman" panose="02020603050405020304" pitchFamily="18" charset="0"/>
              </a:rPr>
              <a:t>Chức năng quản trị:</a:t>
            </a:r>
          </a:p>
          <a:p>
            <a:pPr>
              <a:lnSpc>
                <a:spcPct val="150000"/>
              </a:lnSpc>
            </a:pPr>
            <a:r>
              <a:rPr lang="vi-VN">
                <a:latin typeface="Times New Roman" panose="02020603050405020304" pitchFamily="18" charset="0"/>
                <a:cs typeface="Times New Roman" panose="02020603050405020304" pitchFamily="18" charset="0"/>
              </a:rPr>
              <a:t>	- Thống kê lượt truy cập website</a:t>
            </a:r>
          </a:p>
          <a:p>
            <a:pPr>
              <a:lnSpc>
                <a:spcPct val="150000"/>
              </a:lnSpc>
            </a:pPr>
            <a:r>
              <a:rPr lang="vi-VN">
                <a:latin typeface="Times New Roman" panose="02020603050405020304" pitchFamily="18" charset="0"/>
                <a:cs typeface="Times New Roman" panose="02020603050405020304" pitchFamily="18" charset="0"/>
              </a:rPr>
              <a:t>	-Theo dõi danh sách yêu cầu tư vấn mới</a:t>
            </a:r>
          </a:p>
          <a:p>
            <a:pPr>
              <a:lnSpc>
                <a:spcPct val="150000"/>
              </a:lnSpc>
            </a:pPr>
            <a:r>
              <a:rPr lang="vi-VN">
                <a:latin typeface="Times New Roman" panose="02020603050405020304" pitchFamily="18" charset="0"/>
                <a:cs typeface="Times New Roman" panose="02020603050405020304" pitchFamily="18" charset="0"/>
              </a:rPr>
              <a:t>	-Quản lý toàn diện cơ sở dữ liệu</a:t>
            </a:r>
          </a:p>
        </p:txBody>
      </p:sp>
    </p:spTree>
    <p:extLst>
      <p:ext uri="{BB962C8B-B14F-4D97-AF65-F5344CB8AC3E}">
        <p14:creationId xmlns:p14="http://schemas.microsoft.com/office/powerpoint/2010/main" val="109878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7158-3D06-CC7A-0F54-4056E48DA2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373F1A-655C-0FDE-EB23-9429C84ADF83}"/>
              </a:ext>
            </a:extLst>
          </p:cNvPr>
          <p:cNvSpPr>
            <a:spLocks noGrp="1"/>
          </p:cNvSpPr>
          <p:nvPr>
            <p:ph type="title"/>
          </p:nvPr>
        </p:nvSpPr>
        <p:spPr/>
        <p:txBody>
          <a:bodyPr>
            <a:noAutofit/>
          </a:bodyPr>
          <a:lstStyle/>
          <a:p>
            <a:r>
              <a:rPr lang="vi-VN" sz="3200" b="1">
                <a:latin typeface="Times New Roman" panose="02020603050405020304" pitchFamily="18" charset="0"/>
                <a:cs typeface="Times New Roman" panose="02020603050405020304" pitchFamily="18" charset="0"/>
              </a:rPr>
              <a:t>CHƯƠNG 5: KẾT LUẬN VÀ PHÁT TRIỂN</a:t>
            </a:r>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496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B5C8-2649-503C-B25D-395E712C94E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638CF24-F48A-52B1-1889-15C3FFAA785F}"/>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KẾT QUẢ ĐẠT ĐƯỢC </a:t>
            </a:r>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D82135D-5316-E7C7-76D3-614304D2902C}"/>
              </a:ext>
            </a:extLst>
          </p:cNvPr>
          <p:cNvSpPr txBox="1"/>
          <p:nvPr/>
        </p:nvSpPr>
        <p:spPr>
          <a:xfrm>
            <a:off x="1295402" y="2034540"/>
            <a:ext cx="4702275" cy="1383520"/>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THÀNH CÔNG </a:t>
            </a:r>
          </a:p>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Website hoàn chỉnh, giao diện responsive, quản lý DB ổn định qua PHP/MySQL.</a:t>
            </a:r>
          </a:p>
        </p:txBody>
      </p:sp>
      <p:sp>
        <p:nvSpPr>
          <p:cNvPr id="3" name="TextBox 2">
            <a:extLst>
              <a:ext uri="{FF2B5EF4-FFF2-40B4-BE49-F238E27FC236}">
                <a16:creationId xmlns:a16="http://schemas.microsoft.com/office/drawing/2014/main" id="{B743F8FE-0CA5-83C2-9A9D-CF00692FD45E}"/>
              </a:ext>
            </a:extLst>
          </p:cNvPr>
          <p:cNvSpPr txBox="1"/>
          <p:nvPr/>
        </p:nvSpPr>
        <p:spPr>
          <a:xfrm>
            <a:off x="6096000" y="2034540"/>
            <a:ext cx="5319253" cy="1383520"/>
          </a:xfrm>
          <a:prstGeom prst="rect">
            <a:avLst/>
          </a:prstGeom>
          <a:noFill/>
        </p:spPr>
        <p:txBody>
          <a:bodyPr wrap="square">
            <a:spAutoFit/>
          </a:bodyPr>
          <a:lstStyle/>
          <a:p>
            <a:pPr algn="l">
              <a:spcAft>
                <a:spcPts val="900"/>
              </a:spcAft>
              <a:buNone/>
            </a:pPr>
            <a:r>
              <a:rPr lang="vi-VN" sz="2000" b="1" i="0">
                <a:solidFill>
                  <a:srgbClr val="005088"/>
                </a:solidFill>
                <a:effectLst/>
                <a:latin typeface="Times New Roman" panose="02020603050405020304" pitchFamily="18" charset="0"/>
                <a:cs typeface="Times New Roman" panose="02020603050405020304" pitchFamily="18" charset="0"/>
              </a:rPr>
              <a:t>HẠN CHẾ </a:t>
            </a:r>
          </a:p>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Chưa tích hợp được thanh toán online, chưa có tính năng gửi email tự động cho học viên</a:t>
            </a:r>
          </a:p>
        </p:txBody>
      </p:sp>
    </p:spTree>
    <p:extLst>
      <p:ext uri="{BB962C8B-B14F-4D97-AF65-F5344CB8AC3E}">
        <p14:creationId xmlns:p14="http://schemas.microsoft.com/office/powerpoint/2010/main" val="3299880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B009-F9C2-6A1F-56F9-CCE752A770B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7E913C3-C8E7-7884-625A-1C43FE75A35B}"/>
              </a:ext>
            </a:extLst>
          </p:cNvPr>
          <p:cNvSpPr>
            <a:spLocks noGrp="1"/>
          </p:cNvSpPr>
          <p:nvPr>
            <p:ph type="title"/>
          </p:nvPr>
        </p:nvSpPr>
        <p:spPr>
          <a:xfrm>
            <a:off x="1295402" y="845575"/>
            <a:ext cx="9609668" cy="860400"/>
          </a:xfrm>
        </p:spPr>
        <p:txBody>
          <a:bodyPr/>
          <a:lstStyle/>
          <a:p>
            <a:r>
              <a:rPr lang="vi-VN">
                <a:latin typeface="Times New Roman" panose="02020603050405020304" pitchFamily="18" charset="0"/>
                <a:cs typeface="Times New Roman" panose="02020603050405020304" pitchFamily="18" charset="0"/>
              </a:rPr>
              <a:t>HƯỚNG PHÁT TRIỂN </a:t>
            </a:r>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5B1C66A-5A35-9FEC-B8BA-809E759E8C41}"/>
              </a:ext>
            </a:extLst>
          </p:cNvPr>
          <p:cNvSpPr txBox="1"/>
          <p:nvPr/>
        </p:nvSpPr>
        <p:spPr>
          <a:xfrm>
            <a:off x="1295402" y="2095995"/>
            <a:ext cx="9874043" cy="960328"/>
          </a:xfrm>
          <a:prstGeom prst="rect">
            <a:avLst/>
          </a:prstGeom>
          <a:noFill/>
        </p:spPr>
        <p:txBody>
          <a:bodyPr wrap="square">
            <a:spAutoFit/>
          </a:bodyPr>
          <a:lstStyle/>
          <a:p>
            <a:pPr algn="l">
              <a:lnSpc>
                <a:spcPct val="150000"/>
              </a:lnSpc>
              <a:spcAft>
                <a:spcPts val="900"/>
              </a:spcAft>
              <a:buNone/>
            </a:pPr>
            <a:r>
              <a:rPr lang="vi-VN" sz="2000" i="0">
                <a:effectLst/>
                <a:latin typeface="Times New Roman" panose="02020603050405020304" pitchFamily="18" charset="0"/>
                <a:cs typeface="Times New Roman" panose="02020603050405020304" pitchFamily="18" charset="0"/>
              </a:rPr>
              <a:t>	Trong tương lai, hệ thống sẽ tích hợp thanh toán qua các app ngân hàng và tạo các bài thi đánh giá năng lực trực tuyến cho học viên.</a:t>
            </a:r>
          </a:p>
        </p:txBody>
      </p:sp>
    </p:spTree>
    <p:extLst>
      <p:ext uri="{BB962C8B-B14F-4D97-AF65-F5344CB8AC3E}">
        <p14:creationId xmlns:p14="http://schemas.microsoft.com/office/powerpoint/2010/main" val="2268757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B58076-369A-F593-1D8A-33702026B0D0}"/>
              </a:ext>
            </a:extLst>
          </p:cNvPr>
          <p:cNvSpPr>
            <a:spLocks noGrp="1"/>
          </p:cNvSpPr>
          <p:nvPr>
            <p:ph type="body" idx="1"/>
          </p:nvPr>
        </p:nvSpPr>
        <p:spPr>
          <a:xfrm>
            <a:off x="1012723" y="2762865"/>
            <a:ext cx="9892346" cy="2874916"/>
          </a:xfrm>
        </p:spPr>
        <p:txBody>
          <a:bodyPr>
            <a:normAutofit/>
          </a:bodyPr>
          <a:lstStyle/>
          <a:p>
            <a:pPr algn="ctr"/>
            <a:r>
              <a:rPr lang="vi-VN" sz="3200" b="1">
                <a:solidFill>
                  <a:srgbClr val="00B0F0"/>
                </a:solidFill>
              </a:rPr>
              <a:t>XIN CẢM ƠN!</a:t>
            </a:r>
          </a:p>
          <a:p>
            <a:pPr algn="ctr"/>
            <a:r>
              <a:rPr lang="vi-VN"/>
              <a:t>Quý thầy cô và các bạn đã chú ý lắng nghe phần trình bày</a:t>
            </a:r>
          </a:p>
          <a:p>
            <a:pPr algn="ctr"/>
            <a:endParaRPr lang="vi-VN"/>
          </a:p>
          <a:p>
            <a:pPr algn="ctr"/>
            <a:r>
              <a:rPr lang="vi-VN" b="1"/>
              <a:t>Rất mong nhận được sự góp ý từ Hội đồng!</a:t>
            </a:r>
          </a:p>
          <a:p>
            <a:pPr algn="ctr"/>
            <a:endParaRPr lang="vi-VN" b="1"/>
          </a:p>
          <a:p>
            <a:pPr algn="ctr"/>
            <a:r>
              <a:rPr lang="vi-VN"/>
              <a:t>Huỳnh Ngọc Minh Thư			MSSV: 110123184</a:t>
            </a:r>
          </a:p>
          <a:p>
            <a:endParaRPr lang="en-US"/>
          </a:p>
        </p:txBody>
      </p:sp>
      <p:pic>
        <p:nvPicPr>
          <p:cNvPr id="5" name="Picture 4" descr="A blue heart in a white circle&#10;&#10;AI-generated content may be incorrect.">
            <a:extLst>
              <a:ext uri="{FF2B5EF4-FFF2-40B4-BE49-F238E27FC236}">
                <a16:creationId xmlns:a16="http://schemas.microsoft.com/office/drawing/2014/main" id="{6BA52F9B-F3BD-CE3D-6E8F-446636111B7D}"/>
              </a:ext>
            </a:extLst>
          </p:cNvPr>
          <p:cNvPicPr>
            <a:picLocks noChangeAspect="1"/>
          </p:cNvPicPr>
          <p:nvPr/>
        </p:nvPicPr>
        <p:blipFill>
          <a:blip r:embed="rId2"/>
          <a:stretch>
            <a:fillRect/>
          </a:stretch>
        </p:blipFill>
        <p:spPr>
          <a:xfrm>
            <a:off x="5196789" y="1103564"/>
            <a:ext cx="1524213" cy="1524213"/>
          </a:xfrm>
          <a:prstGeom prst="rect">
            <a:avLst/>
          </a:prstGeom>
          <a:ln>
            <a:noFill/>
          </a:ln>
          <a:effectLst>
            <a:softEdge rad="112500"/>
          </a:effectLst>
        </p:spPr>
      </p:pic>
    </p:spTree>
    <p:extLst>
      <p:ext uri="{BB962C8B-B14F-4D97-AF65-F5344CB8AC3E}">
        <p14:creationId xmlns:p14="http://schemas.microsoft.com/office/powerpoint/2010/main" val="41993242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238</TotalTime>
  <Words>1552</Words>
  <Application>Microsoft Office PowerPoint</Application>
  <PresentationFormat>Widescreen</PresentationFormat>
  <Paragraphs>107</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Garamond</vt:lpstr>
      <vt:lpstr>Merriweather</vt:lpstr>
      <vt:lpstr>ti</vt:lpstr>
      <vt:lpstr>Times New Roman</vt:lpstr>
      <vt:lpstr>Organic</vt:lpstr>
      <vt:lpstr>Bài thuyết trình  Cơ Sở Ngành</vt:lpstr>
      <vt:lpstr>Đề tài: Xây dựng Website giới thiệu các khoá học của một Trung tâm Ngoại ngữ - Tin học </vt:lpstr>
      <vt:lpstr>PowerPoint Presentation</vt:lpstr>
      <vt:lpstr>CHƯƠNG 1: TỔNG QUAN ĐỀ TÀI</vt:lpstr>
      <vt:lpstr>GIỚI THIỆU BÀI TOÁN NGIÊN CỨU</vt:lpstr>
      <vt:lpstr>Ý NGHĨA CỦA ĐỀ TÀI </vt:lpstr>
      <vt:lpstr>CHƯƠNG 2: NGHIÊN CỨU LÝ THUYẾT</vt:lpstr>
      <vt:lpstr>TỔNG QUAN VỀ NGÔN NGỮ HTML5</vt:lpstr>
      <vt:lpstr>CẤU TRÚC CHUẨN CỦA MỘT TỆP HTML5</vt:lpstr>
      <vt:lpstr>NGÔN NGỮ CSS3 &amp; RESPONSIVE</vt:lpstr>
      <vt:lpstr>JAVASCRIPT:LINH HỒN WEBSITE</vt:lpstr>
      <vt:lpstr>XỬ LÝ MÁY CHỦ VỚI NGÔN NGỮ PHP</vt:lpstr>
      <vt:lpstr>HỆ QUẢN TRỊ CƠ SỞ DỮ LIỆU MYSQL</vt:lpstr>
      <vt:lpstr>CHƯƠNG 3: HIỆN THỰC HÓA NGHIÊN CỨU</vt:lpstr>
      <vt:lpstr>MÔ TẢ BÀI TOÁN NGHIỆP VỤ </vt:lpstr>
      <vt:lpstr>MỤC TIÊU</vt:lpstr>
      <vt:lpstr>ĐẶC TẢ BÀI TOÁN </vt:lpstr>
      <vt:lpstr>CHƯƠNG 4: KẾT QUẢ NGHIÊN CỨU</vt:lpstr>
      <vt:lpstr>PowerPoint Presentation</vt:lpstr>
      <vt:lpstr>DANH SÁCH KHÓA HỌC VÀ TÌM KIẾM </vt:lpstr>
      <vt:lpstr>ĐĂNG KÍ VÀ ĐĂNG NHẬP BẢO MẬT </vt:lpstr>
      <vt:lpstr>NHẬN YÊU CẦU TƯ VẤN ONLINE </vt:lpstr>
      <vt:lpstr>THEO DÕI KHÓA HỌC CÁ NHÂN </vt:lpstr>
      <vt:lpstr>QUẢN LÝ KHÓA HỌC VÀ NỘI DUNG </vt:lpstr>
      <vt:lpstr>HIỂN THỊ DA THIẾT BỊ  </vt:lpstr>
      <vt:lpstr>CHƯƠNG 5: KẾT LUẬN VÀ PHÁT TRIỂN</vt:lpstr>
      <vt:lpstr>KẾT QUẢ ĐẠT ĐƯỢC </vt:lpstr>
      <vt:lpstr>HƯỚNG PHÁT TRIỂN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thu</dc:creator>
  <cp:lastModifiedBy>minh thu</cp:lastModifiedBy>
  <cp:revision>4</cp:revision>
  <dcterms:created xsi:type="dcterms:W3CDTF">2026-01-04T03:19:55Z</dcterms:created>
  <dcterms:modified xsi:type="dcterms:W3CDTF">2026-01-04T11:52:16Z</dcterms:modified>
</cp:coreProperties>
</file>